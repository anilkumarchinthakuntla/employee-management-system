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0"/>
  </p:notesMasterIdLst>
  <p:sldIdLst>
    <p:sldId id="256" r:id="rId2"/>
    <p:sldId id="257" r:id="rId3"/>
    <p:sldId id="258" r:id="rId4"/>
    <p:sldId id="261" r:id="rId5"/>
    <p:sldId id="266" r:id="rId6"/>
    <p:sldId id="262" r:id="rId7"/>
    <p:sldId id="267" r:id="rId8"/>
    <p:sldId id="268" r:id="rId9"/>
    <p:sldId id="269" r:id="rId10"/>
    <p:sldId id="263" r:id="rId11"/>
    <p:sldId id="264" r:id="rId12"/>
    <p:sldId id="270" r:id="rId13"/>
    <p:sldId id="271" r:id="rId14"/>
    <p:sldId id="272" r:id="rId15"/>
    <p:sldId id="273" r:id="rId16"/>
    <p:sldId id="275" r:id="rId17"/>
    <p:sldId id="274" r:id="rId18"/>
    <p:sldId id="276" r:id="rId19"/>
    <p:sldId id="277" r:id="rId20"/>
    <p:sldId id="279" r:id="rId21"/>
    <p:sldId id="280" r:id="rId22"/>
    <p:sldId id="278" r:id="rId23"/>
    <p:sldId id="281" r:id="rId24"/>
    <p:sldId id="282" r:id="rId25"/>
    <p:sldId id="283" r:id="rId26"/>
    <p:sldId id="284" r:id="rId27"/>
    <p:sldId id="285" r:id="rId28"/>
    <p:sldId id="259" r:id="rId29"/>
  </p:sldIdLst>
  <p:sldSz cx="12192000" cy="6858000"/>
  <p:notesSz cx="6858000" cy="9144000"/>
  <p:embeddedFontLst>
    <p:embeddedFont>
      <p:font typeface="Lato Black" panose="020F0502020204030203" pitchFamily="34" charset="0"/>
      <p:bold r:id="rId31"/>
      <p:boldItalic r:id="rId32"/>
    </p:embeddedFont>
    <p:embeddedFont>
      <p:font typeface="Libre Baskerville" panose="02000000000000000000" pitchFamily="2" charset="0"/>
      <p:regular r:id="rId33"/>
      <p:bold r:id="rId34"/>
      <p:italic r:id="rId35"/>
    </p:embeddedFont>
    <p:embeddedFont>
      <p:font typeface="Roboto Mono" panose="00000009000000000000" pitchFamily="49"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0"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69" autoAdjust="0"/>
    <p:restoredTop sz="95033" autoAdjust="0"/>
  </p:normalViewPr>
  <p:slideViewPr>
    <p:cSldViewPr snapToGrid="0">
      <p:cViewPr varScale="1">
        <p:scale>
          <a:sx n="78" d="100"/>
          <a:sy n="78" d="100"/>
        </p:scale>
        <p:origin x="653"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24</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501107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ww.linkedin.com/in/anil-kumar-613978256"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github.com/anilkumarchinthakuntla"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2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3.png"/></Relationships>
</file>

<file path=ppt/slides/_rels/slide2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7.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9.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10424" y="68824"/>
            <a:ext cx="12190815" cy="6694098"/>
          </a:xfrm>
          <a:prstGeom prst="rect">
            <a:avLst/>
          </a:prstGeom>
          <a:noFill/>
          <a:ln>
            <a:noFill/>
          </a:ln>
        </p:spPr>
      </p:pic>
      <p:sp>
        <p:nvSpPr>
          <p:cNvPr id="99" name="Google Shape;99;p1"/>
          <p:cNvSpPr txBox="1"/>
          <p:nvPr/>
        </p:nvSpPr>
        <p:spPr>
          <a:xfrm>
            <a:off x="2472904" y="3717986"/>
            <a:ext cx="7246189" cy="646290"/>
          </a:xfrm>
          <a:prstGeom prst="rect">
            <a:avLst/>
          </a:prstGeom>
          <a:noFill/>
          <a:ln>
            <a:noFill/>
          </a:ln>
        </p:spPr>
        <p:txBody>
          <a:bodyPr spcFirstLastPara="1" wrap="square" lIns="91425" tIns="45700" rIns="91425" bIns="45700" anchor="t" anchorCtr="0">
            <a:spAutoFit/>
          </a:bodyPr>
          <a:lstStyle/>
          <a:p>
            <a:pPr lvl="0" algn="ctr">
              <a:buSzPts val="1800"/>
            </a:pPr>
            <a:r>
              <a:rPr lang="en-IN" sz="3600" b="1" dirty="0">
                <a:solidFill>
                  <a:srgbClr val="FF0000"/>
                </a:solidFill>
                <a:latin typeface="Calibri"/>
                <a:ea typeface="Calibri"/>
                <a:cs typeface="Calibri"/>
                <a:sym typeface="Calibri"/>
              </a:rPr>
              <a:t>E</a:t>
            </a:r>
            <a:r>
              <a:rPr lang="en-IN" sz="3600" b="1" dirty="0">
                <a:solidFill>
                  <a:schemeClr val="dk1"/>
                </a:solidFill>
                <a:latin typeface="Calibri"/>
                <a:ea typeface="Calibri"/>
                <a:cs typeface="Calibri"/>
                <a:sym typeface="Calibri"/>
              </a:rPr>
              <a:t>mployee </a:t>
            </a:r>
            <a:r>
              <a:rPr lang="en-IN" sz="3600" b="1" dirty="0">
                <a:solidFill>
                  <a:srgbClr val="FF0000"/>
                </a:solidFill>
                <a:latin typeface="Calibri"/>
                <a:ea typeface="Calibri"/>
                <a:cs typeface="Calibri"/>
                <a:sym typeface="Calibri"/>
              </a:rPr>
              <a:t>M</a:t>
            </a:r>
            <a:r>
              <a:rPr lang="en-IN" sz="3600" b="1" dirty="0">
                <a:solidFill>
                  <a:schemeClr val="dk1"/>
                </a:solidFill>
                <a:latin typeface="Calibri"/>
                <a:ea typeface="Calibri"/>
                <a:cs typeface="Calibri"/>
                <a:sym typeface="Calibri"/>
              </a:rPr>
              <a:t>anagement </a:t>
            </a:r>
            <a:r>
              <a:rPr lang="en-IN" sz="3600" b="1" dirty="0">
                <a:solidFill>
                  <a:srgbClr val="FF0000"/>
                </a:solidFill>
                <a:latin typeface="Calibri"/>
                <a:ea typeface="Calibri"/>
                <a:cs typeface="Calibri"/>
                <a:sym typeface="Calibri"/>
              </a:rPr>
              <a:t>S</a:t>
            </a:r>
            <a:r>
              <a:rPr lang="en-IN" sz="3600" b="1" dirty="0">
                <a:solidFill>
                  <a:schemeClr val="dk1"/>
                </a:solidFill>
                <a:latin typeface="Calibri"/>
                <a:ea typeface="Calibri"/>
                <a:cs typeface="Calibri"/>
                <a:sym typeface="Calibri"/>
              </a:rPr>
              <a:t>ystem</a:t>
            </a:r>
            <a:endParaRPr sz="3600" b="1" i="0" u="none" strike="noStrike" cap="none" dirty="0">
              <a:solidFill>
                <a:srgbClr val="000000"/>
              </a:solidFill>
              <a:latin typeface="Arial"/>
              <a:ea typeface="Arial"/>
              <a:cs typeface="Arial"/>
              <a:sym typeface="Arial"/>
            </a:endParaRPr>
          </a:p>
        </p:txBody>
      </p:sp>
      <p:sp>
        <p:nvSpPr>
          <p:cNvPr id="2" name="TextBox 1">
            <a:extLst>
              <a:ext uri="{FF2B5EF4-FFF2-40B4-BE49-F238E27FC236}">
                <a16:creationId xmlns:a16="http://schemas.microsoft.com/office/drawing/2014/main" id="{C1CDE7DB-A8FF-CFCA-6688-073A9B575387}"/>
              </a:ext>
            </a:extLst>
          </p:cNvPr>
          <p:cNvSpPr txBox="1"/>
          <p:nvPr/>
        </p:nvSpPr>
        <p:spPr>
          <a:xfrm>
            <a:off x="7934633" y="5348749"/>
            <a:ext cx="3640840" cy="1231106"/>
          </a:xfrm>
          <a:prstGeom prst="rect">
            <a:avLst/>
          </a:prstGeom>
          <a:noFill/>
        </p:spPr>
        <p:txBody>
          <a:bodyPr wrap="square">
            <a:spAutoFit/>
          </a:bodyPr>
          <a:lstStyle/>
          <a:p>
            <a:r>
              <a:rPr lang="en-US" sz="2000" b="1" dirty="0">
                <a:solidFill>
                  <a:srgbClr val="FF0000"/>
                </a:solidFill>
                <a:latin typeface="Calibri"/>
                <a:ea typeface="Calibri"/>
                <a:cs typeface="Calibri"/>
                <a:sym typeface="Calibri"/>
              </a:rPr>
              <a:t>P</a:t>
            </a:r>
            <a:r>
              <a:rPr lang="en-IN" sz="2000" b="1" dirty="0">
                <a:solidFill>
                  <a:srgbClr val="FF0000"/>
                </a:solidFill>
                <a:latin typeface="Calibri"/>
                <a:ea typeface="Calibri"/>
                <a:cs typeface="Calibri"/>
                <a:sym typeface="Calibri"/>
              </a:rPr>
              <a:t>resented By:</a:t>
            </a:r>
          </a:p>
          <a:p>
            <a:r>
              <a:rPr lang="en-IN" sz="1800" b="1" dirty="0">
                <a:solidFill>
                  <a:schemeClr val="tx1"/>
                </a:solidFill>
                <a:latin typeface="Calibri"/>
                <a:ea typeface="Calibri"/>
                <a:cs typeface="Calibri"/>
                <a:sym typeface="Calibri"/>
              </a:rPr>
              <a:t>Anil </a:t>
            </a:r>
            <a:r>
              <a:rPr lang="en-IN" sz="1800" b="1" dirty="0" err="1">
                <a:solidFill>
                  <a:schemeClr val="tx1"/>
                </a:solidFill>
                <a:latin typeface="Calibri"/>
                <a:ea typeface="Calibri"/>
                <a:cs typeface="Calibri"/>
                <a:sym typeface="Calibri"/>
              </a:rPr>
              <a:t>kumar</a:t>
            </a:r>
            <a:r>
              <a:rPr lang="en-IN" sz="1800" b="1" dirty="0">
                <a:solidFill>
                  <a:schemeClr val="tx1"/>
                </a:solidFill>
                <a:latin typeface="Calibri"/>
                <a:ea typeface="Calibri"/>
                <a:cs typeface="Calibri"/>
                <a:sym typeface="Calibri"/>
              </a:rPr>
              <a:t> Chinthakuntla</a:t>
            </a:r>
          </a:p>
          <a:p>
            <a:r>
              <a:rPr lang="en-IN" sz="1800" b="1" dirty="0">
                <a:solidFill>
                  <a:schemeClr val="tx1"/>
                </a:solidFill>
                <a:latin typeface="Calibri"/>
                <a:ea typeface="Calibri"/>
                <a:cs typeface="Calibri"/>
                <a:sym typeface="Calibri"/>
              </a:rPr>
              <a:t>Batch No: 436</a:t>
            </a:r>
          </a:p>
          <a:p>
            <a:r>
              <a:rPr lang="en-IN" sz="1800" b="1" dirty="0" err="1">
                <a:solidFill>
                  <a:schemeClr val="tx1"/>
                </a:solidFill>
                <a:latin typeface="Calibri"/>
                <a:ea typeface="Calibri"/>
                <a:cs typeface="Calibri"/>
                <a:sym typeface="Calibri"/>
              </a:rPr>
              <a:t>Location:Dilshuknagar</a:t>
            </a:r>
            <a:endParaRPr lang="en-IN" sz="1800" b="1"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5" name="Google Shape;105;p3"/>
          <p:cNvSpPr txBox="1"/>
          <p:nvPr/>
        </p:nvSpPr>
        <p:spPr>
          <a:xfrm>
            <a:off x="427656" y="416554"/>
            <a:ext cx="6099463" cy="495905"/>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0" i="0" u="none" strike="noStrike" cap="none">
                <a:solidFill>
                  <a:srgbClr val="FF0000"/>
                </a:solidFill>
                <a:latin typeface="Lato Black"/>
                <a:ea typeface="Lato Black"/>
                <a:cs typeface="Lato Black"/>
                <a:sym typeface="Lato Black"/>
              </a:rPr>
              <a:t>About me</a:t>
            </a:r>
            <a:endParaRPr sz="1800" b="0" i="0" u="none" strike="noStrike" cap="none">
              <a:solidFill>
                <a:srgbClr val="FF0000"/>
              </a:solidFill>
              <a:latin typeface="Calibri"/>
              <a:ea typeface="Calibri"/>
              <a:cs typeface="Calibri"/>
              <a:sym typeface="Calibri"/>
            </a:endParaRPr>
          </a:p>
        </p:txBody>
      </p:sp>
      <p:sp>
        <p:nvSpPr>
          <p:cNvPr id="3" name="TextBox 2">
            <a:extLst>
              <a:ext uri="{FF2B5EF4-FFF2-40B4-BE49-F238E27FC236}">
                <a16:creationId xmlns:a16="http://schemas.microsoft.com/office/drawing/2014/main" id="{FB5DCECC-54C1-1020-6AEF-78351E261547}"/>
              </a:ext>
            </a:extLst>
          </p:cNvPr>
          <p:cNvSpPr txBox="1"/>
          <p:nvPr/>
        </p:nvSpPr>
        <p:spPr>
          <a:xfrm>
            <a:off x="835741" y="1133743"/>
            <a:ext cx="10569678" cy="4001095"/>
          </a:xfrm>
          <a:prstGeom prst="rect">
            <a:avLst/>
          </a:prstGeom>
          <a:noFill/>
        </p:spPr>
        <p:txBody>
          <a:bodyPr wrap="square">
            <a:spAutoFit/>
          </a:bodyPr>
          <a:lstStyle/>
          <a:p>
            <a:pPr marL="285750" marR="0" lvl="0" indent="-323850" algn="l" rtl="0">
              <a:lnSpc>
                <a:spcPct val="100000"/>
              </a:lnSpc>
              <a:spcBef>
                <a:spcPts val="0"/>
              </a:spcBef>
              <a:spcAft>
                <a:spcPts val="0"/>
              </a:spcAft>
              <a:buClr>
                <a:schemeClr val="dk1"/>
              </a:buClr>
              <a:buSzPts val="2400"/>
              <a:buFont typeface="Arial"/>
              <a:buChar char="•"/>
            </a:pPr>
            <a:r>
              <a:rPr lang="en-IN" sz="2000" b="1"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Background?</a:t>
            </a:r>
          </a:p>
          <a:p>
            <a:pPr marR="0" lvl="0" algn="l" rtl="0">
              <a:lnSpc>
                <a:spcPct val="100000"/>
              </a:lnSpc>
              <a:spcBef>
                <a:spcPts val="0"/>
              </a:spcBef>
              <a:spcAft>
                <a:spcPts val="0"/>
              </a:spcAft>
              <a:buClr>
                <a:schemeClr val="dk1"/>
              </a:buClr>
              <a:buSzPts val="2400"/>
            </a:pPr>
            <a:r>
              <a:rPr lang="en-IN" sz="2000" b="1"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	I have completed my </a:t>
            </a:r>
            <a:r>
              <a:rPr lang="en-IN" sz="2000" b="1" dirty="0" err="1">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B.Tech</a:t>
            </a:r>
            <a:r>
              <a:rPr lang="en-IN" sz="2000" b="1"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 graduation in Electrical Engineer from </a:t>
            </a:r>
            <a:r>
              <a:rPr lang="en-IN" sz="2000" b="1" dirty="0" err="1">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Annamacharya</a:t>
            </a:r>
            <a:r>
              <a:rPr lang="en-IN" sz="2000" b="1"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 institute of technology and science</a:t>
            </a:r>
          </a:p>
          <a:p>
            <a:pPr marR="0" lvl="0" algn="l" rtl="0">
              <a:lnSpc>
                <a:spcPct val="100000"/>
              </a:lnSpc>
              <a:spcBef>
                <a:spcPts val="0"/>
              </a:spcBef>
              <a:spcAft>
                <a:spcPts val="0"/>
              </a:spcAft>
              <a:buClr>
                <a:schemeClr val="dk1"/>
              </a:buClr>
              <a:buSzPts val="2400"/>
            </a:pPr>
            <a:endParaRPr lang="en-IN" sz="2000" b="1"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p>
            <a:pPr marL="285750" lvl="0" indent="-323850">
              <a:buClr>
                <a:schemeClr val="dk1"/>
              </a:buClr>
              <a:buSzPts val="2400"/>
              <a:buFont typeface="Arial"/>
              <a:buChar char="•"/>
            </a:pPr>
            <a:r>
              <a:rPr lang="en-US" sz="2000" b="1"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Any work experience</a:t>
            </a:r>
          </a:p>
          <a:p>
            <a:pPr lvl="0">
              <a:buClr>
                <a:schemeClr val="dk1"/>
              </a:buClr>
              <a:buSzPts val="2400"/>
            </a:pPr>
            <a:r>
              <a:rPr lang="en-US" sz="2000" b="1"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	I have 6 years of work experience in Navigation field </a:t>
            </a:r>
          </a:p>
          <a:p>
            <a:pPr lvl="0">
              <a:buClr>
                <a:schemeClr val="dk1"/>
              </a:buClr>
              <a:buSzPts val="2400"/>
            </a:pPr>
            <a:endParaRPr lang="en-US" sz="2000" b="1"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p>
            <a:pPr marL="285750" lvl="0" indent="-323850">
              <a:buClr>
                <a:schemeClr val="dk1"/>
              </a:buClr>
              <a:buSzPts val="2400"/>
              <a:buFont typeface="Calibri"/>
              <a:buChar char="•"/>
            </a:pPr>
            <a:r>
              <a:rPr lang="en-IN" sz="2000" b="1"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LinkedIn profile URL</a:t>
            </a:r>
          </a:p>
          <a:p>
            <a:pPr lvl="0">
              <a:buClr>
                <a:schemeClr val="dk1"/>
              </a:buClr>
              <a:buSzPts val="2400"/>
            </a:pPr>
            <a:r>
              <a:rPr lang="en-IN" sz="2000" b="1"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	</a:t>
            </a:r>
            <a:r>
              <a:rPr lang="en-IN" sz="2000" dirty="0">
                <a:latin typeface="Calibri" panose="020F0502020204030204" pitchFamily="34" charset="0"/>
                <a:ea typeface="Calibri" panose="020F0502020204030204" pitchFamily="34" charset="0"/>
                <a:cs typeface="Calibri" panose="020F0502020204030204" pitchFamily="34" charset="0"/>
                <a:hlinkClick r:id="rId3"/>
              </a:rPr>
              <a:t>www.linkedin.com/in/anil-kumar-613978256</a:t>
            </a:r>
            <a:endParaRPr lang="en-IN" sz="2000" dirty="0">
              <a:latin typeface="Calibri" panose="020F0502020204030204" pitchFamily="34" charset="0"/>
              <a:ea typeface="Calibri" panose="020F0502020204030204" pitchFamily="34" charset="0"/>
              <a:cs typeface="Calibri" panose="020F0502020204030204" pitchFamily="34" charset="0"/>
            </a:endParaRPr>
          </a:p>
          <a:p>
            <a:pPr lvl="0">
              <a:buClr>
                <a:schemeClr val="dk1"/>
              </a:buClr>
              <a:buSzPts val="2400"/>
            </a:pPr>
            <a:endParaRPr lang="en-IN" sz="2000" b="1"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p>
            <a:pPr marL="285750" lvl="0" indent="-323850">
              <a:buClr>
                <a:schemeClr val="dk1"/>
              </a:buClr>
              <a:buSzPts val="2400"/>
              <a:buFont typeface="Calibri"/>
              <a:buChar char="•"/>
            </a:pPr>
            <a:r>
              <a:rPr lang="en-IN" sz="2000" b="1"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Git hub profile URL</a:t>
            </a:r>
          </a:p>
          <a:p>
            <a:pPr lvl="0">
              <a:buClr>
                <a:schemeClr val="dk1"/>
              </a:buClr>
              <a:buSzPts val="2400"/>
            </a:pPr>
            <a:r>
              <a:rPr lang="en-IN" sz="2000" b="1"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	</a:t>
            </a:r>
            <a:r>
              <a:rPr lang="en-IN" sz="2000" dirty="0">
                <a:latin typeface="Calibri" panose="020F0502020204030204" pitchFamily="34" charset="0"/>
                <a:ea typeface="Calibri" panose="020F0502020204030204" pitchFamily="34" charset="0"/>
                <a:cs typeface="Calibri" panose="020F0502020204030204" pitchFamily="34" charset="0"/>
                <a:hlinkClick r:id="rId4"/>
              </a:rPr>
              <a:t>https://github.com/anilkumarchinthakuntla</a:t>
            </a:r>
            <a:endParaRPr lang="en-IN" sz="2000" dirty="0">
              <a:latin typeface="Calibri" panose="020F0502020204030204" pitchFamily="34" charset="0"/>
              <a:ea typeface="Calibri" panose="020F0502020204030204" pitchFamily="34" charset="0"/>
              <a:cs typeface="Calibri" panose="020F0502020204030204" pitchFamily="34" charset="0"/>
            </a:endParaRPr>
          </a:p>
          <a:p>
            <a:pPr lvl="0">
              <a:buClr>
                <a:schemeClr val="dk1"/>
              </a:buClr>
              <a:buSzPts val="2400"/>
            </a:pPr>
            <a:endParaRPr lang="en-IN" b="1"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IN" b="1" dirty="0">
                <a:solidFill>
                  <a:srgbClr val="FF0000"/>
                </a:solidFill>
              </a:rPr>
              <a:t>Agenda </a:t>
            </a:r>
            <a:endParaRPr b="1" dirty="0">
              <a:solidFill>
                <a:srgbClr val="FF0000"/>
              </a:solidFill>
            </a:endParaRPr>
          </a:p>
        </p:txBody>
      </p:sp>
      <p:sp>
        <p:nvSpPr>
          <p:cNvPr id="111" name="Google Shape;111;p4"/>
          <p:cNvSpPr txBox="1">
            <a:spLocks noGrp="1"/>
          </p:cNvSpPr>
          <p:nvPr>
            <p:ph type="body" idx="1"/>
          </p:nvPr>
        </p:nvSpPr>
        <p:spPr>
          <a:xfrm>
            <a:off x="625886" y="1158837"/>
            <a:ext cx="10515600" cy="4777234"/>
          </a:xfrm>
          <a:prstGeom prst="rect">
            <a:avLst/>
          </a:prstGeom>
          <a:noFill/>
          <a:ln>
            <a:noFill/>
          </a:ln>
        </p:spPr>
        <p:txBody>
          <a:bodyPr spcFirstLastPara="1" wrap="square" lIns="91425" tIns="45700" rIns="91425" bIns="45700" anchor="t" anchorCtr="0">
            <a:normAutofit/>
          </a:bodyPr>
          <a:lstStyle/>
          <a:p>
            <a:pPr indent="-431800">
              <a:buSzPts val="2400"/>
            </a:pPr>
            <a:r>
              <a:rPr lang="en-US" sz="2400" b="1" dirty="0">
                <a:solidFill>
                  <a:schemeClr val="tx1"/>
                </a:solidFill>
                <a:latin typeface="+mn-lt"/>
                <a:ea typeface="Calibri" panose="020F0502020204030204" pitchFamily="34" charset="0"/>
                <a:cs typeface="Calibri" panose="020F0502020204030204" pitchFamily="34" charset="0"/>
              </a:rPr>
              <a:t>Business Problem</a:t>
            </a:r>
            <a:endParaRPr lang="en-IN" sz="2400" b="1" dirty="0">
              <a:solidFill>
                <a:schemeClr val="tx1"/>
              </a:solidFill>
              <a:latin typeface="+mn-lt"/>
            </a:endParaRPr>
          </a:p>
          <a:p>
            <a:pPr marL="457200" lvl="0" indent="-431800" algn="l" rtl="0">
              <a:lnSpc>
                <a:spcPct val="90000"/>
              </a:lnSpc>
              <a:spcBef>
                <a:spcPts val="1000"/>
              </a:spcBef>
              <a:spcAft>
                <a:spcPts val="0"/>
              </a:spcAft>
              <a:buSzPts val="2400"/>
              <a:buChar char="•"/>
            </a:pPr>
            <a:r>
              <a:rPr lang="en-IN" sz="2400" b="1" dirty="0">
                <a:solidFill>
                  <a:schemeClr val="tx1"/>
                </a:solidFill>
                <a:latin typeface="+mn-lt"/>
              </a:rPr>
              <a:t>Objective of the Project</a:t>
            </a:r>
          </a:p>
          <a:p>
            <a:pPr indent="-431800">
              <a:buSzPts val="2400"/>
            </a:pPr>
            <a:r>
              <a:rPr lang="en-IN" sz="2400" b="1" dirty="0">
                <a:solidFill>
                  <a:schemeClr val="tx1"/>
                </a:solidFill>
                <a:latin typeface="+mn-lt"/>
              </a:rPr>
              <a:t>Data description </a:t>
            </a:r>
            <a:endParaRPr sz="2400" dirty="0">
              <a:solidFill>
                <a:schemeClr val="tx1"/>
              </a:solidFill>
              <a:latin typeface="+mn-lt"/>
            </a:endParaRPr>
          </a:p>
          <a:p>
            <a:pPr marL="457200" lvl="0" indent="-431800" algn="l" rtl="0">
              <a:lnSpc>
                <a:spcPct val="90000"/>
              </a:lnSpc>
              <a:spcBef>
                <a:spcPts val="1000"/>
              </a:spcBef>
              <a:spcAft>
                <a:spcPts val="0"/>
              </a:spcAft>
              <a:buSzPts val="2400"/>
              <a:buChar char="•"/>
            </a:pPr>
            <a:r>
              <a:rPr lang="en-IN" sz="2400" b="1" dirty="0">
                <a:solidFill>
                  <a:schemeClr val="tx1"/>
                </a:solidFill>
                <a:latin typeface="+mn-lt"/>
              </a:rPr>
              <a:t>ER Diagram and schema explanation</a:t>
            </a:r>
            <a:endParaRPr sz="2400" dirty="0">
              <a:solidFill>
                <a:schemeClr val="tx1"/>
              </a:solidFill>
              <a:latin typeface="+mn-lt"/>
            </a:endParaRPr>
          </a:p>
          <a:p>
            <a:pPr marL="457200" lvl="0" indent="-431800" algn="l" rtl="0">
              <a:lnSpc>
                <a:spcPct val="90000"/>
              </a:lnSpc>
              <a:spcBef>
                <a:spcPts val="1000"/>
              </a:spcBef>
              <a:spcAft>
                <a:spcPts val="0"/>
              </a:spcAft>
              <a:buSzPts val="2400"/>
              <a:buChar char="•"/>
            </a:pPr>
            <a:r>
              <a:rPr lang="en-IN" sz="2400" b="1" dirty="0">
                <a:solidFill>
                  <a:schemeClr val="tx1"/>
                </a:solidFill>
                <a:latin typeface="+mn-lt"/>
              </a:rPr>
              <a:t>Key analysis questions (use cases)</a:t>
            </a:r>
            <a:endParaRPr sz="2400" dirty="0">
              <a:solidFill>
                <a:schemeClr val="tx1"/>
              </a:solidFill>
              <a:latin typeface="+mn-lt"/>
            </a:endParaRPr>
          </a:p>
          <a:p>
            <a:pPr marL="457200" lvl="0" indent="-431800" algn="l" rtl="0">
              <a:lnSpc>
                <a:spcPct val="90000"/>
              </a:lnSpc>
              <a:spcBef>
                <a:spcPts val="1000"/>
              </a:spcBef>
              <a:spcAft>
                <a:spcPts val="0"/>
              </a:spcAft>
              <a:buSzPts val="2400"/>
              <a:buChar char="•"/>
            </a:pPr>
            <a:r>
              <a:rPr lang="en-IN" sz="2400" b="1" dirty="0">
                <a:solidFill>
                  <a:schemeClr val="tx1"/>
                </a:solidFill>
                <a:latin typeface="+mn-lt"/>
              </a:rPr>
              <a:t>SQL query results with screenshots or summaries</a:t>
            </a:r>
            <a:endParaRPr sz="2400" dirty="0">
              <a:solidFill>
                <a:schemeClr val="tx1"/>
              </a:solidFill>
              <a:latin typeface="+mn-lt"/>
            </a:endParaRPr>
          </a:p>
          <a:p>
            <a:pPr marL="457200" lvl="0" indent="-431800" algn="l" rtl="0">
              <a:lnSpc>
                <a:spcPct val="90000"/>
              </a:lnSpc>
              <a:spcBef>
                <a:spcPts val="1000"/>
              </a:spcBef>
              <a:spcAft>
                <a:spcPts val="0"/>
              </a:spcAft>
              <a:buSzPts val="2400"/>
              <a:buChar char="•"/>
            </a:pPr>
            <a:r>
              <a:rPr lang="en-IN" sz="2400" b="1" dirty="0">
                <a:solidFill>
                  <a:schemeClr val="tx1"/>
                </a:solidFill>
                <a:latin typeface="+mn-lt"/>
              </a:rPr>
              <a:t>Final business insights and recommendations</a:t>
            </a:r>
          </a:p>
          <a:p>
            <a:pPr indent="-431800">
              <a:buSzPts val="2400"/>
            </a:pPr>
            <a:r>
              <a:rPr lang="en-US" sz="2400" b="1" dirty="0">
                <a:solidFill>
                  <a:schemeClr val="tx1"/>
                </a:solidFill>
                <a:latin typeface="+mn-lt"/>
              </a:rPr>
              <a:t>Challenges Working on SQL Project</a:t>
            </a:r>
            <a:endParaRPr sz="2400" dirty="0">
              <a:solidFill>
                <a:schemeClr val="tx1"/>
              </a:solidFill>
              <a:latin typeface="+mn-lt"/>
            </a:endParaRPr>
          </a:p>
          <a:p>
            <a:pPr marL="457200" lvl="0" indent="-431800" algn="l" rtl="0">
              <a:lnSpc>
                <a:spcPct val="90000"/>
              </a:lnSpc>
              <a:spcBef>
                <a:spcPts val="1000"/>
              </a:spcBef>
              <a:spcAft>
                <a:spcPts val="0"/>
              </a:spcAft>
              <a:buSzPts val="2400"/>
              <a:buChar char="•"/>
            </a:pPr>
            <a:r>
              <a:rPr lang="en-IN" sz="2400" b="1" dirty="0">
                <a:solidFill>
                  <a:schemeClr val="tx1"/>
                </a:solidFill>
                <a:latin typeface="+mn-lt"/>
              </a:rPr>
              <a:t>Conclusion (Key finding overall) </a:t>
            </a:r>
            <a:endParaRPr sz="2400" dirty="0">
              <a:solidFill>
                <a:schemeClr val="tx1"/>
              </a:solidFill>
              <a:latin typeface="+mn-lt"/>
            </a:endParaRPr>
          </a:p>
          <a:p>
            <a:pPr marL="457200" lvl="0" indent="-431800" algn="l" rtl="0">
              <a:lnSpc>
                <a:spcPct val="90000"/>
              </a:lnSpc>
              <a:spcBef>
                <a:spcPts val="1000"/>
              </a:spcBef>
              <a:spcAft>
                <a:spcPts val="0"/>
              </a:spcAft>
              <a:buSzPts val="2400"/>
              <a:buChar char="•"/>
            </a:pPr>
            <a:r>
              <a:rPr lang="en-IN" sz="2400" b="1" dirty="0">
                <a:solidFill>
                  <a:schemeClr val="tx1"/>
                </a:solidFill>
                <a:latin typeface="+mn-lt"/>
              </a:rPr>
              <a:t>Q&amp;A Slide </a:t>
            </a:r>
            <a:endParaRPr sz="2400" dirty="0">
              <a:solidFill>
                <a:schemeClr val="tx1"/>
              </a:solidFill>
              <a:latin typeface="+mn-lt"/>
            </a:endParaRPr>
          </a:p>
          <a:p>
            <a:pPr marL="0" lvl="0" indent="0" algn="l" rtl="0">
              <a:lnSpc>
                <a:spcPct val="90000"/>
              </a:lnSpc>
              <a:spcBef>
                <a:spcPts val="1000"/>
              </a:spcBef>
              <a:spcAft>
                <a:spcPts val="0"/>
              </a:spcAft>
              <a:buClr>
                <a:schemeClr val="dk1"/>
              </a:buClr>
              <a:buSzPts val="2800"/>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430E702-58F7-EFAA-50DA-80F18BB65A3C}"/>
              </a:ext>
            </a:extLst>
          </p:cNvPr>
          <p:cNvSpPr txBox="1"/>
          <p:nvPr/>
        </p:nvSpPr>
        <p:spPr>
          <a:xfrm>
            <a:off x="275303" y="452284"/>
            <a:ext cx="11582400" cy="5601533"/>
          </a:xfrm>
          <a:prstGeom prst="rect">
            <a:avLst/>
          </a:prstGeom>
          <a:noFill/>
        </p:spPr>
        <p:txBody>
          <a:bodyPr wrap="square">
            <a:spAutoFit/>
          </a:bodyPr>
          <a:lstStyle/>
          <a:p>
            <a:pPr>
              <a:buNone/>
            </a:pPr>
            <a:endParaRPr lang="en-US" sz="2000" dirty="0"/>
          </a:p>
          <a:p>
            <a:r>
              <a:rPr lang="en-US" sz="2800" b="1" dirty="0">
                <a:solidFill>
                  <a:srgbClr val="FF0000"/>
                </a:solidFill>
                <a:latin typeface="Calibri" panose="020F0502020204030204" pitchFamily="34" charset="0"/>
                <a:ea typeface="Calibri" panose="020F0502020204030204" pitchFamily="34" charset="0"/>
                <a:cs typeface="Calibri" panose="020F0502020204030204" pitchFamily="34" charset="0"/>
              </a:rPr>
              <a:t>Business Problem</a:t>
            </a:r>
          </a:p>
          <a:p>
            <a:pPr>
              <a:buNone/>
            </a:pPr>
            <a:endParaRPr lang="en-US" sz="2000" dirty="0"/>
          </a:p>
          <a:p>
            <a:pPr algn="just">
              <a:lnSpc>
                <a:spcPct val="150000"/>
              </a:lnSpc>
              <a:buNone/>
            </a:pPr>
            <a:r>
              <a:rPr lang="en-US" sz="2000" dirty="0"/>
              <a:t>In many organizations, </a:t>
            </a:r>
            <a:r>
              <a:rPr lang="en-US" sz="2000" b="1" dirty="0"/>
              <a:t>employee data and HR processes are managed manually or through disconnected systems</a:t>
            </a:r>
            <a:r>
              <a:rPr lang="en-US" sz="2000" dirty="0"/>
              <a:t>, which leads to data inconsistencies, increased administrative workload, and lack of real-time visibility into important HR functions. Current approaches fail to provide a </a:t>
            </a:r>
            <a:r>
              <a:rPr lang="en-US" sz="2000" b="1" dirty="0"/>
              <a:t>centralized platform</a:t>
            </a:r>
            <a:r>
              <a:rPr lang="en-US" sz="2000" dirty="0"/>
              <a:t> for managing comprehensive employee information, including personal records, job roles, salary structures, qualifications, leave history, and payroll calculations. This fragmentation results in </a:t>
            </a:r>
            <a:r>
              <a:rPr lang="en-US" sz="2000" b="1" dirty="0"/>
              <a:t>redundant data entry, delayed updates, and limited ability to generate accurate reports for decision making and reduces manual effort, ensures data consistency, and enhances operational efficiency across all HR functions.</a:t>
            </a:r>
          </a:p>
          <a:p>
            <a:pPr algn="just">
              <a:lnSpc>
                <a:spcPct val="150000"/>
              </a:lnSpc>
              <a:buNone/>
            </a:pPr>
            <a:endParaRPr lang="en-US" sz="2000" b="1" dirty="0"/>
          </a:p>
          <a:p>
            <a:pPr algn="just">
              <a:buNone/>
            </a:pPr>
            <a:endParaRPr lang="en-US" sz="2000" b="1" dirty="0"/>
          </a:p>
        </p:txBody>
      </p:sp>
    </p:spTree>
    <p:extLst>
      <p:ext uri="{BB962C8B-B14F-4D97-AF65-F5344CB8AC3E}">
        <p14:creationId xmlns:p14="http://schemas.microsoft.com/office/powerpoint/2010/main" val="11951643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C9403-8E30-6955-DFA3-4282D8E52DD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D3923CF-9CD9-FCC9-677D-5B5FA72E2D84}"/>
              </a:ext>
            </a:extLst>
          </p:cNvPr>
          <p:cNvSpPr txBox="1"/>
          <p:nvPr/>
        </p:nvSpPr>
        <p:spPr>
          <a:xfrm>
            <a:off x="275303" y="452284"/>
            <a:ext cx="10854813" cy="4394280"/>
          </a:xfrm>
          <a:prstGeom prst="rect">
            <a:avLst/>
          </a:prstGeom>
          <a:noFill/>
        </p:spPr>
        <p:txBody>
          <a:bodyPr wrap="square">
            <a:spAutoFit/>
          </a:bodyPr>
          <a:lstStyle/>
          <a:p>
            <a:pPr>
              <a:buNone/>
            </a:pPr>
            <a:endParaRPr lang="en-US" sz="2000" dirty="0"/>
          </a:p>
          <a:p>
            <a:r>
              <a:rPr lang="en-IN" sz="2800" b="1" dirty="0">
                <a:solidFill>
                  <a:srgbClr val="FF0000"/>
                </a:solidFill>
              </a:rPr>
              <a:t>Objective of the Project</a:t>
            </a:r>
          </a:p>
          <a:p>
            <a:pPr algn="just">
              <a:buNone/>
            </a:pPr>
            <a:endParaRPr lang="en-US" sz="2000" dirty="0"/>
          </a:p>
          <a:p>
            <a:pPr algn="just">
              <a:lnSpc>
                <a:spcPct val="150000"/>
              </a:lnSpc>
              <a:buNone/>
            </a:pPr>
            <a:r>
              <a:rPr lang="en-IN" sz="2400" dirty="0"/>
              <a:t>The objective of the Employee Management System project is to design a structured SQL-based system that efficiently manages employee data, job roles, salary details, qualifications, leave records, and payroll processing. The project aims to build a relational database that ensures data accuracy, supports analytical queries, and helps organizations generate useful insights for HR and management decision-making.</a:t>
            </a:r>
            <a:endParaRPr lang="en-US" sz="2400" dirty="0"/>
          </a:p>
        </p:txBody>
      </p:sp>
    </p:spTree>
    <p:extLst>
      <p:ext uri="{BB962C8B-B14F-4D97-AF65-F5344CB8AC3E}">
        <p14:creationId xmlns:p14="http://schemas.microsoft.com/office/powerpoint/2010/main" val="993081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419765E-9F91-C591-D293-E306FFD92A7D}"/>
              </a:ext>
            </a:extLst>
          </p:cNvPr>
          <p:cNvSpPr txBox="1"/>
          <p:nvPr/>
        </p:nvSpPr>
        <p:spPr>
          <a:xfrm>
            <a:off x="570271" y="260781"/>
            <a:ext cx="6096000" cy="677108"/>
          </a:xfrm>
          <a:prstGeom prst="rect">
            <a:avLst/>
          </a:prstGeom>
          <a:noFill/>
        </p:spPr>
        <p:txBody>
          <a:bodyPr wrap="square">
            <a:spAutoFit/>
          </a:bodyPr>
          <a:lstStyle/>
          <a:p>
            <a:pPr algn="l"/>
            <a:endParaRPr lang="en-IN" sz="1000" b="0" i="0" u="none" strike="noStrike" baseline="0" dirty="0">
              <a:solidFill>
                <a:srgbClr val="000000"/>
              </a:solidFill>
              <a:latin typeface="Arial" panose="020B0604020202020204" pitchFamily="34" charset="0"/>
            </a:endParaRPr>
          </a:p>
          <a:p>
            <a:r>
              <a:rPr lang="en-IN" sz="2800" b="1" i="0" u="none" strike="noStrike" baseline="0" dirty="0">
                <a:solidFill>
                  <a:srgbClr val="FF0000"/>
                </a:solidFill>
                <a:latin typeface="Arial" panose="020B0604020202020204" pitchFamily="34" charset="0"/>
              </a:rPr>
              <a:t>Data Description </a:t>
            </a:r>
            <a:endParaRPr lang="en-IN" sz="2800" dirty="0">
              <a:solidFill>
                <a:srgbClr val="FF0000"/>
              </a:solidFill>
            </a:endParaRPr>
          </a:p>
        </p:txBody>
      </p:sp>
      <p:graphicFrame>
        <p:nvGraphicFramePr>
          <p:cNvPr id="6" name="Table 5">
            <a:extLst>
              <a:ext uri="{FF2B5EF4-FFF2-40B4-BE49-F238E27FC236}">
                <a16:creationId xmlns:a16="http://schemas.microsoft.com/office/drawing/2014/main" id="{B8EE9ADA-D199-22BF-5DA2-A6AFC1F72B7B}"/>
              </a:ext>
            </a:extLst>
          </p:cNvPr>
          <p:cNvGraphicFramePr>
            <a:graphicFrameLocks noGrp="1"/>
          </p:cNvGraphicFramePr>
          <p:nvPr>
            <p:extLst>
              <p:ext uri="{D42A27DB-BD31-4B8C-83A1-F6EECF244321}">
                <p14:modId xmlns:p14="http://schemas.microsoft.com/office/powerpoint/2010/main" val="2540441182"/>
              </p:ext>
            </p:extLst>
          </p:nvPr>
        </p:nvGraphicFramePr>
        <p:xfrm>
          <a:off x="658761" y="1208836"/>
          <a:ext cx="9153832" cy="2487561"/>
        </p:xfrm>
        <a:graphic>
          <a:graphicData uri="http://schemas.openxmlformats.org/drawingml/2006/table">
            <a:tbl>
              <a:tblPr>
                <a:effectLst>
                  <a:outerShdw blurRad="63500" sx="102000" sy="102000" algn="ctr" rotWithShape="0">
                    <a:prstClr val="black">
                      <a:alpha val="40000"/>
                    </a:prstClr>
                  </a:outerShdw>
                </a:effectLst>
                <a:tableStyleId>{35758FB7-9AC5-4552-8A53-C91805E547FA}</a:tableStyleId>
              </a:tblPr>
              <a:tblGrid>
                <a:gridCol w="1868129">
                  <a:extLst>
                    <a:ext uri="{9D8B030D-6E8A-4147-A177-3AD203B41FA5}">
                      <a16:colId xmlns:a16="http://schemas.microsoft.com/office/drawing/2014/main" val="99720384"/>
                    </a:ext>
                  </a:extLst>
                </a:gridCol>
                <a:gridCol w="7285703">
                  <a:extLst>
                    <a:ext uri="{9D8B030D-6E8A-4147-A177-3AD203B41FA5}">
                      <a16:colId xmlns:a16="http://schemas.microsoft.com/office/drawing/2014/main" val="3171975139"/>
                    </a:ext>
                  </a:extLst>
                </a:gridCol>
              </a:tblGrid>
              <a:tr h="335190">
                <a:tc>
                  <a:txBody>
                    <a:bodyPr/>
                    <a:lstStyle/>
                    <a:p>
                      <a:pPr algn="ctr" fontAlgn="ctr">
                        <a:buNone/>
                      </a:pPr>
                      <a:r>
                        <a:rPr lang="en-IN" sz="1600" b="1" u="none" strike="noStrike" dirty="0">
                          <a:effectLst/>
                        </a:rPr>
                        <a:t>Table name</a:t>
                      </a:r>
                      <a:endParaRPr lang="en-IN" sz="1600" b="1"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ctr">
                        <a:buNone/>
                      </a:pPr>
                      <a:r>
                        <a:rPr lang="en-IN" sz="1600" b="1" u="none" strike="noStrike" dirty="0">
                          <a:effectLst/>
                        </a:rPr>
                        <a:t>Description</a:t>
                      </a:r>
                      <a:endParaRPr lang="en-IN" sz="1600" b="1"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648369342"/>
                  </a:ext>
                </a:extLst>
              </a:tr>
              <a:tr h="335190">
                <a:tc>
                  <a:txBody>
                    <a:bodyPr/>
                    <a:lstStyle/>
                    <a:p>
                      <a:pPr algn="ctr" fontAlgn="b">
                        <a:buNone/>
                      </a:pPr>
                      <a:r>
                        <a:rPr lang="en-IN" sz="1400" u="none" strike="noStrike" dirty="0" err="1">
                          <a:effectLst/>
                        </a:rPr>
                        <a:t>JobDepartment</a:t>
                      </a:r>
                      <a:endParaRPr lang="en-IN"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US" sz="1400" u="none" strike="noStrike" dirty="0">
                          <a:effectLst/>
                        </a:rPr>
                        <a:t>Stores job roles, departments, and related salary ranges</a:t>
                      </a:r>
                      <a:endParaRPr lang="en-US" sz="14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359598492"/>
                  </a:ext>
                </a:extLst>
              </a:tr>
              <a:tr h="335190">
                <a:tc>
                  <a:txBody>
                    <a:bodyPr/>
                    <a:lstStyle/>
                    <a:p>
                      <a:pPr algn="ctr" fontAlgn="b">
                        <a:buNone/>
                      </a:pPr>
                      <a:r>
                        <a:rPr lang="en-IN" sz="1400" u="none" strike="noStrike" dirty="0">
                          <a:effectLst/>
                        </a:rPr>
                        <a:t>Salary Bonus</a:t>
                      </a:r>
                      <a:endParaRPr lang="en-IN"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US" sz="1400" u="none" strike="noStrike">
                          <a:effectLst/>
                        </a:rPr>
                        <a:t>Contains salary, bonus, and annual pay linked to specific job roles.</a:t>
                      </a:r>
                      <a:endParaRPr lang="en-US"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996000195"/>
                  </a:ext>
                </a:extLst>
              </a:tr>
              <a:tr h="400443">
                <a:tc>
                  <a:txBody>
                    <a:bodyPr/>
                    <a:lstStyle/>
                    <a:p>
                      <a:pPr algn="ctr" fontAlgn="b">
                        <a:buNone/>
                      </a:pPr>
                      <a:r>
                        <a:rPr lang="en-IN" sz="1400" u="none" strike="noStrike" dirty="0">
                          <a:effectLst/>
                        </a:rPr>
                        <a:t>Employee</a:t>
                      </a:r>
                      <a:endParaRPr lang="en-IN"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US" sz="1400" u="none" strike="noStrike" dirty="0">
                          <a:effectLst/>
                        </a:rPr>
                        <a:t>Maintains personal, contact, and login details of all employees.</a:t>
                      </a:r>
                      <a:endParaRPr lang="en-US" sz="14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398199851"/>
                  </a:ext>
                </a:extLst>
              </a:tr>
              <a:tr h="363794">
                <a:tc>
                  <a:txBody>
                    <a:bodyPr/>
                    <a:lstStyle/>
                    <a:p>
                      <a:pPr algn="ctr" fontAlgn="b">
                        <a:buNone/>
                      </a:pPr>
                      <a:r>
                        <a:rPr lang="en-IN" sz="1400" u="none" strike="noStrike" dirty="0">
                          <a:effectLst/>
                        </a:rPr>
                        <a:t>Qualification</a:t>
                      </a:r>
                      <a:endParaRPr lang="en-IN"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US" sz="1400" u="none" strike="noStrike" dirty="0">
                          <a:effectLst/>
                        </a:rPr>
                        <a:t>Records qualifications and required skills for employee job positions.</a:t>
                      </a:r>
                      <a:endParaRPr lang="en-US" sz="14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32055921"/>
                  </a:ext>
                </a:extLst>
              </a:tr>
              <a:tr h="335190">
                <a:tc>
                  <a:txBody>
                    <a:bodyPr/>
                    <a:lstStyle/>
                    <a:p>
                      <a:pPr lvl="1" algn="ctr" fontAlgn="b">
                        <a:buNone/>
                      </a:pPr>
                      <a:r>
                        <a:rPr lang="en-IN" sz="1400" u="none" strike="noStrike" dirty="0">
                          <a:effectLst/>
                        </a:rPr>
                        <a:t>Leaves</a:t>
                      </a:r>
                      <a:endParaRPr lang="en-IN"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US" sz="1400" u="none" strike="noStrike">
                          <a:effectLst/>
                        </a:rPr>
                        <a:t>Tracks employee leave records with reasons and dates.</a:t>
                      </a:r>
                      <a:endParaRPr lang="en-US"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720057585"/>
                  </a:ext>
                </a:extLst>
              </a:tr>
              <a:tr h="382564">
                <a:tc>
                  <a:txBody>
                    <a:bodyPr/>
                    <a:lstStyle/>
                    <a:p>
                      <a:pPr algn="ctr" fontAlgn="b">
                        <a:buNone/>
                      </a:pPr>
                      <a:r>
                        <a:rPr lang="en-IN" sz="1400" u="none" strike="noStrike" dirty="0">
                          <a:effectLst/>
                        </a:rPr>
                        <a:t>Payroll</a:t>
                      </a:r>
                      <a:endParaRPr lang="en-IN"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US" sz="1400" u="none" strike="noStrike" dirty="0">
                          <a:effectLst/>
                        </a:rPr>
                        <a:t>Combines employee, job, salary, and leave data to calculate net payments.</a:t>
                      </a:r>
                      <a:endParaRPr lang="en-US" sz="14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970355533"/>
                  </a:ext>
                </a:extLst>
              </a:tr>
            </a:tbl>
          </a:graphicData>
        </a:graphic>
      </p:graphicFrame>
      <p:sp>
        <p:nvSpPr>
          <p:cNvPr id="9" name="TextBox 8">
            <a:extLst>
              <a:ext uri="{FF2B5EF4-FFF2-40B4-BE49-F238E27FC236}">
                <a16:creationId xmlns:a16="http://schemas.microsoft.com/office/drawing/2014/main" id="{B1A9D554-3F8D-1D72-46C0-E22E871C415D}"/>
              </a:ext>
            </a:extLst>
          </p:cNvPr>
          <p:cNvSpPr txBox="1"/>
          <p:nvPr/>
        </p:nvSpPr>
        <p:spPr>
          <a:xfrm>
            <a:off x="658761" y="4145388"/>
            <a:ext cx="6096000" cy="400110"/>
          </a:xfrm>
          <a:prstGeom prst="rect">
            <a:avLst/>
          </a:prstGeom>
          <a:noFill/>
        </p:spPr>
        <p:txBody>
          <a:bodyPr wrap="square">
            <a:spAutoFit/>
          </a:bodyPr>
          <a:lstStyle/>
          <a:p>
            <a:r>
              <a:rPr lang="en-IN" sz="2000" b="1" dirty="0"/>
              <a:t>Foreign Key Constraints: </a:t>
            </a:r>
            <a:endParaRPr lang="en-IN" sz="2000" dirty="0"/>
          </a:p>
        </p:txBody>
      </p:sp>
      <p:sp>
        <p:nvSpPr>
          <p:cNvPr id="11" name="TextBox 10">
            <a:extLst>
              <a:ext uri="{FF2B5EF4-FFF2-40B4-BE49-F238E27FC236}">
                <a16:creationId xmlns:a16="http://schemas.microsoft.com/office/drawing/2014/main" id="{581E6070-8451-5EF3-8458-DF3253EA8614}"/>
              </a:ext>
            </a:extLst>
          </p:cNvPr>
          <p:cNvSpPr txBox="1"/>
          <p:nvPr/>
        </p:nvSpPr>
        <p:spPr>
          <a:xfrm>
            <a:off x="471949" y="4145388"/>
            <a:ext cx="9340644" cy="2092881"/>
          </a:xfrm>
          <a:prstGeom prst="rect">
            <a:avLst/>
          </a:prstGeom>
          <a:noFill/>
        </p:spPr>
        <p:txBody>
          <a:bodyPr wrap="square">
            <a:spAutoFit/>
          </a:bodyPr>
          <a:lstStyle/>
          <a:p>
            <a:pPr algn="l"/>
            <a:endParaRPr lang="en-IN" sz="1600" b="0" i="0" u="none" strike="noStrike" baseline="0" dirty="0">
              <a:solidFill>
                <a:srgbClr val="000000"/>
              </a:solidFill>
              <a:latin typeface="Arial" panose="020B0604020202020204" pitchFamily="34" charset="0"/>
            </a:endParaRPr>
          </a:p>
          <a:p>
            <a:endParaRPr lang="en-IN" sz="1600" b="0" i="0" u="none" strike="noStrike" baseline="0" dirty="0">
              <a:latin typeface="Arial" panose="020B0604020202020204" pitchFamily="34" charset="0"/>
            </a:endParaRPr>
          </a:p>
          <a:p>
            <a:r>
              <a:rPr lang="en-US" sz="1400" b="0" i="0" u="none" strike="noStrike" baseline="0" dirty="0">
                <a:latin typeface="Arial" panose="020B0604020202020204" pitchFamily="34" charset="0"/>
              </a:rPr>
              <a:t>● </a:t>
            </a:r>
            <a:r>
              <a:rPr lang="en-US" sz="1400" b="1" i="0" u="none" strike="noStrike" baseline="0" dirty="0">
                <a:latin typeface="Arial" panose="020B0604020202020204" pitchFamily="34" charset="0"/>
              </a:rPr>
              <a:t>Cascading Delete/Update</a:t>
            </a:r>
            <a:r>
              <a:rPr lang="en-US" sz="1400" b="0" i="0" u="none" strike="noStrike" baseline="0" dirty="0">
                <a:latin typeface="Arial" panose="020B0604020202020204" pitchFamily="34" charset="0"/>
              </a:rPr>
              <a:t>: For most relationships, the </a:t>
            </a:r>
            <a:r>
              <a:rPr lang="en-US" sz="1400" b="0" i="0" u="none" strike="noStrike" baseline="0" dirty="0">
                <a:latin typeface="Roboto Mono" panose="020F0502020204030204" pitchFamily="49" charset="0"/>
              </a:rPr>
              <a:t>ON DELETE CASCADE </a:t>
            </a:r>
            <a:r>
              <a:rPr lang="en-US" sz="1400" b="0" i="0" u="none" strike="noStrike" baseline="0" dirty="0">
                <a:latin typeface="Arial" panose="020B0604020202020204" pitchFamily="34" charset="0"/>
              </a:rPr>
              <a:t>and </a:t>
            </a:r>
            <a:r>
              <a:rPr lang="en-US" sz="1400" b="0" i="0" u="none" strike="noStrike" baseline="0" dirty="0">
                <a:latin typeface="Roboto Mono" panose="020F0502020204030204" pitchFamily="49" charset="0"/>
              </a:rPr>
              <a:t>ON UPDATE CASCADE </a:t>
            </a:r>
            <a:r>
              <a:rPr lang="en-US" sz="1400" b="0" i="0" u="none" strike="noStrike" baseline="0" dirty="0">
                <a:latin typeface="Arial" panose="020B0604020202020204" pitchFamily="34" charset="0"/>
              </a:rPr>
              <a:t>actions are used, meaning that if a record in the parent table (e.g., Employee, </a:t>
            </a:r>
            <a:r>
              <a:rPr lang="en-US" sz="1400" b="0" i="0" u="none" strike="noStrike" baseline="0" dirty="0" err="1">
                <a:latin typeface="Arial" panose="020B0604020202020204" pitchFamily="34" charset="0"/>
              </a:rPr>
              <a:t>JobDepartment</a:t>
            </a:r>
            <a:r>
              <a:rPr lang="en-US" sz="1400" b="0" i="0" u="none" strike="noStrike" baseline="0" dirty="0">
                <a:latin typeface="Arial" panose="020B0604020202020204" pitchFamily="34" charset="0"/>
              </a:rPr>
              <a:t>) is deleted or updated, the corresponding records in the child tables (e.g., </a:t>
            </a:r>
            <a:r>
              <a:rPr lang="en-US" sz="1400" b="0" i="0" u="none" strike="noStrike" baseline="0" dirty="0" err="1">
                <a:latin typeface="Arial" panose="020B0604020202020204" pitchFamily="34" charset="0"/>
              </a:rPr>
              <a:t>SalaryBonus</a:t>
            </a:r>
            <a:r>
              <a:rPr lang="en-US" sz="1400" b="0" i="0" u="none" strike="noStrike" baseline="0" dirty="0">
                <a:latin typeface="Arial" panose="020B0604020202020204" pitchFamily="34" charset="0"/>
              </a:rPr>
              <a:t>, Payroll) are automatically deleted or updated as well. </a:t>
            </a:r>
          </a:p>
          <a:p>
            <a:r>
              <a:rPr lang="en-US" sz="1400" b="0" i="0" u="none" strike="noStrike" baseline="0" dirty="0">
                <a:latin typeface="Arial" panose="020B0604020202020204" pitchFamily="34" charset="0"/>
              </a:rPr>
              <a:t>● </a:t>
            </a:r>
            <a:r>
              <a:rPr lang="en-US" sz="1400" b="1" i="0" u="none" strike="noStrike" baseline="0" dirty="0">
                <a:latin typeface="Arial" panose="020B0604020202020204" pitchFamily="34" charset="0"/>
              </a:rPr>
              <a:t>Set Null on Delete</a:t>
            </a:r>
            <a:r>
              <a:rPr lang="en-US" sz="1400" b="0" i="0" u="none" strike="noStrike" baseline="0" dirty="0">
                <a:latin typeface="Arial" panose="020B0604020202020204" pitchFamily="34" charset="0"/>
              </a:rPr>
              <a:t>: For the relationship between the </a:t>
            </a:r>
            <a:r>
              <a:rPr lang="en-US" sz="1400" b="0" i="0" u="none" strike="noStrike" baseline="0" dirty="0">
                <a:latin typeface="Roboto Mono" panose="020F0502020204030204" pitchFamily="49" charset="0"/>
              </a:rPr>
              <a:t>Payroll </a:t>
            </a:r>
            <a:r>
              <a:rPr lang="en-US" sz="1400" b="0" i="0" u="none" strike="noStrike" baseline="0" dirty="0">
                <a:latin typeface="Arial" panose="020B0604020202020204" pitchFamily="34" charset="0"/>
              </a:rPr>
              <a:t>and </a:t>
            </a:r>
            <a:r>
              <a:rPr lang="en-US" sz="1400" b="0" i="0" u="none" strike="noStrike" baseline="0" dirty="0">
                <a:latin typeface="Roboto Mono" panose="020F0502020204030204" pitchFamily="49" charset="0"/>
              </a:rPr>
              <a:t>Leaves </a:t>
            </a:r>
            <a:r>
              <a:rPr lang="en-US" sz="1400" b="0" i="0" u="none" strike="noStrike" baseline="0" dirty="0">
                <a:latin typeface="Arial" panose="020B0604020202020204" pitchFamily="34" charset="0"/>
              </a:rPr>
              <a:t>tables, </a:t>
            </a:r>
            <a:r>
              <a:rPr lang="en-US" sz="1400" b="0" i="0" u="none" strike="noStrike" baseline="0" dirty="0">
                <a:latin typeface="Roboto Mono" panose="020F0502020204030204" pitchFamily="49" charset="0"/>
              </a:rPr>
              <a:t>ON DELETE SET NULL </a:t>
            </a:r>
            <a:r>
              <a:rPr lang="en-US" sz="1400" b="0" i="0" u="none" strike="noStrike" baseline="0" dirty="0">
                <a:latin typeface="Arial" panose="020B0604020202020204" pitchFamily="34" charset="0"/>
              </a:rPr>
              <a:t>is used. If a leave record is deleted, the related payroll record will not be deleted, but the reference to the leave record will be set to null. </a:t>
            </a:r>
          </a:p>
        </p:txBody>
      </p:sp>
    </p:spTree>
    <p:extLst>
      <p:ext uri="{BB962C8B-B14F-4D97-AF65-F5344CB8AC3E}">
        <p14:creationId xmlns:p14="http://schemas.microsoft.com/office/powerpoint/2010/main" val="8151203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BE22EF-4380-BA6A-BD41-7F7E3D79D453}"/>
              </a:ext>
            </a:extLst>
          </p:cNvPr>
          <p:cNvPicPr>
            <a:picLocks noChangeAspect="1"/>
          </p:cNvPicPr>
          <p:nvPr/>
        </p:nvPicPr>
        <p:blipFill>
          <a:blip r:embed="rId2"/>
          <a:stretch>
            <a:fillRect/>
          </a:stretch>
        </p:blipFill>
        <p:spPr>
          <a:xfrm>
            <a:off x="147106" y="529091"/>
            <a:ext cx="7708870" cy="2938627"/>
          </a:xfrm>
          <a:prstGeom prst="rect">
            <a:avLst/>
          </a:prstGeom>
          <a:effectLst>
            <a:glow rad="139700">
              <a:schemeClr val="accent2">
                <a:satMod val="175000"/>
                <a:alpha val="40000"/>
              </a:schemeClr>
            </a:glow>
          </a:effectLst>
        </p:spPr>
      </p:pic>
      <p:pic>
        <p:nvPicPr>
          <p:cNvPr id="7" name="Picture 6">
            <a:extLst>
              <a:ext uri="{FF2B5EF4-FFF2-40B4-BE49-F238E27FC236}">
                <a16:creationId xmlns:a16="http://schemas.microsoft.com/office/drawing/2014/main" id="{869FEBBC-BD40-150F-C430-26D7903185FE}"/>
              </a:ext>
            </a:extLst>
          </p:cNvPr>
          <p:cNvPicPr>
            <a:picLocks noChangeAspect="1"/>
          </p:cNvPicPr>
          <p:nvPr/>
        </p:nvPicPr>
        <p:blipFill>
          <a:blip r:embed="rId3"/>
          <a:stretch>
            <a:fillRect/>
          </a:stretch>
        </p:blipFill>
        <p:spPr>
          <a:xfrm>
            <a:off x="3805083" y="3576481"/>
            <a:ext cx="8239811" cy="3156156"/>
          </a:xfrm>
          <a:prstGeom prst="rect">
            <a:avLst/>
          </a:prstGeom>
          <a:effectLst>
            <a:glow rad="139700">
              <a:schemeClr val="accent5">
                <a:satMod val="175000"/>
                <a:alpha val="40000"/>
              </a:schemeClr>
            </a:glow>
          </a:effectLst>
        </p:spPr>
      </p:pic>
      <p:sp>
        <p:nvSpPr>
          <p:cNvPr id="8" name="Rectangle 7">
            <a:extLst>
              <a:ext uri="{FF2B5EF4-FFF2-40B4-BE49-F238E27FC236}">
                <a16:creationId xmlns:a16="http://schemas.microsoft.com/office/drawing/2014/main" id="{829511EC-4AE0-6800-5960-96DFB98EE030}"/>
              </a:ext>
            </a:extLst>
          </p:cNvPr>
          <p:cNvSpPr/>
          <p:nvPr/>
        </p:nvSpPr>
        <p:spPr>
          <a:xfrm>
            <a:off x="147106" y="193566"/>
            <a:ext cx="7708870" cy="3760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err="1"/>
              <a:t>JobDepartment</a:t>
            </a:r>
            <a:endParaRPr lang="en-IN" sz="2000" b="1" dirty="0"/>
          </a:p>
        </p:txBody>
      </p:sp>
      <p:sp>
        <p:nvSpPr>
          <p:cNvPr id="9" name="Rectangle 8">
            <a:extLst>
              <a:ext uri="{FF2B5EF4-FFF2-40B4-BE49-F238E27FC236}">
                <a16:creationId xmlns:a16="http://schemas.microsoft.com/office/drawing/2014/main" id="{CE992377-4D27-9A12-6C54-530AAB24A66F}"/>
              </a:ext>
            </a:extLst>
          </p:cNvPr>
          <p:cNvSpPr/>
          <p:nvPr/>
        </p:nvSpPr>
        <p:spPr>
          <a:xfrm>
            <a:off x="3805083" y="3499047"/>
            <a:ext cx="8239810" cy="376087"/>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sz="2000" b="1" dirty="0"/>
              <a:t>Employee</a:t>
            </a:r>
            <a:endParaRPr lang="en-IN" sz="2000" b="1" dirty="0">
              <a:solidFill>
                <a:srgbClr val="000000"/>
              </a:solidFill>
              <a:latin typeface="Calibri" panose="020F0502020204030204" pitchFamily="34" charset="0"/>
            </a:endParaRPr>
          </a:p>
        </p:txBody>
      </p:sp>
    </p:spTree>
    <p:extLst>
      <p:ext uri="{BB962C8B-B14F-4D97-AF65-F5344CB8AC3E}">
        <p14:creationId xmlns:p14="http://schemas.microsoft.com/office/powerpoint/2010/main" val="27336132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E1EB25D-CDDB-C477-6EC1-314CB5B9B91D}"/>
              </a:ext>
            </a:extLst>
          </p:cNvPr>
          <p:cNvPicPr>
            <a:picLocks noChangeAspect="1"/>
          </p:cNvPicPr>
          <p:nvPr/>
        </p:nvPicPr>
        <p:blipFill>
          <a:blip r:embed="rId2"/>
          <a:stretch>
            <a:fillRect/>
          </a:stretch>
        </p:blipFill>
        <p:spPr>
          <a:xfrm>
            <a:off x="30967" y="125363"/>
            <a:ext cx="6989265" cy="3277041"/>
          </a:xfrm>
          <a:prstGeom prst="rect">
            <a:avLst/>
          </a:prstGeom>
          <a:effectLst>
            <a:glow rad="139700">
              <a:schemeClr val="accent1">
                <a:satMod val="175000"/>
                <a:alpha val="40000"/>
              </a:schemeClr>
            </a:glow>
          </a:effectLst>
        </p:spPr>
      </p:pic>
      <p:pic>
        <p:nvPicPr>
          <p:cNvPr id="5" name="Picture 4">
            <a:extLst>
              <a:ext uri="{FF2B5EF4-FFF2-40B4-BE49-F238E27FC236}">
                <a16:creationId xmlns:a16="http://schemas.microsoft.com/office/drawing/2014/main" id="{8567ED0A-F824-3236-A4F1-FB58CC0C9DD4}"/>
              </a:ext>
            </a:extLst>
          </p:cNvPr>
          <p:cNvPicPr>
            <a:picLocks noChangeAspect="1"/>
          </p:cNvPicPr>
          <p:nvPr/>
        </p:nvPicPr>
        <p:blipFill>
          <a:blip r:embed="rId3"/>
          <a:stretch>
            <a:fillRect/>
          </a:stretch>
        </p:blipFill>
        <p:spPr>
          <a:xfrm>
            <a:off x="4288335" y="3758824"/>
            <a:ext cx="4696879" cy="2514157"/>
          </a:xfrm>
          <a:prstGeom prst="rect">
            <a:avLst/>
          </a:prstGeom>
          <a:effectLst>
            <a:glow rad="139700">
              <a:schemeClr val="accent4">
                <a:satMod val="175000"/>
                <a:alpha val="40000"/>
              </a:schemeClr>
            </a:glow>
          </a:effectLst>
        </p:spPr>
      </p:pic>
      <p:sp>
        <p:nvSpPr>
          <p:cNvPr id="9" name="Rectangle 8">
            <a:extLst>
              <a:ext uri="{FF2B5EF4-FFF2-40B4-BE49-F238E27FC236}">
                <a16:creationId xmlns:a16="http://schemas.microsoft.com/office/drawing/2014/main" id="{5550D2A5-3836-0ED1-88B0-292C7FBB7A5A}"/>
              </a:ext>
            </a:extLst>
          </p:cNvPr>
          <p:cNvSpPr/>
          <p:nvPr/>
        </p:nvSpPr>
        <p:spPr>
          <a:xfrm>
            <a:off x="0" y="58994"/>
            <a:ext cx="7020232" cy="3564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t>Payroll</a:t>
            </a:r>
            <a:endParaRPr lang="en-IN" sz="2000" b="1" dirty="0">
              <a:solidFill>
                <a:srgbClr val="000000"/>
              </a:solidFill>
              <a:latin typeface="Calibri" panose="020F0502020204030204" pitchFamily="34" charset="0"/>
            </a:endParaRPr>
          </a:p>
        </p:txBody>
      </p:sp>
      <p:sp>
        <p:nvSpPr>
          <p:cNvPr id="11" name="Rectangle 10">
            <a:extLst>
              <a:ext uri="{FF2B5EF4-FFF2-40B4-BE49-F238E27FC236}">
                <a16:creationId xmlns:a16="http://schemas.microsoft.com/office/drawing/2014/main" id="{F780C2EC-8DCE-DBA1-8D8A-5755E1237650}"/>
              </a:ext>
            </a:extLst>
          </p:cNvPr>
          <p:cNvSpPr/>
          <p:nvPr/>
        </p:nvSpPr>
        <p:spPr>
          <a:xfrm>
            <a:off x="4288335" y="3580614"/>
            <a:ext cx="4696878" cy="35642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sz="2000" b="1" dirty="0"/>
              <a:t>Leaves</a:t>
            </a:r>
            <a:endParaRPr lang="en-IN" sz="2000" b="1" dirty="0">
              <a:solidFill>
                <a:srgbClr val="000000"/>
              </a:solidFill>
              <a:latin typeface="Calibri" panose="020F0502020204030204" pitchFamily="34" charset="0"/>
            </a:endParaRPr>
          </a:p>
        </p:txBody>
      </p:sp>
    </p:spTree>
    <p:extLst>
      <p:ext uri="{BB962C8B-B14F-4D97-AF65-F5344CB8AC3E}">
        <p14:creationId xmlns:p14="http://schemas.microsoft.com/office/powerpoint/2010/main" val="42133252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053D171-C9D8-94A9-5B75-D115CD422CA1}"/>
              </a:ext>
            </a:extLst>
          </p:cNvPr>
          <p:cNvPicPr>
            <a:picLocks noChangeAspect="1"/>
          </p:cNvPicPr>
          <p:nvPr/>
        </p:nvPicPr>
        <p:blipFill>
          <a:blip r:embed="rId2"/>
          <a:stretch>
            <a:fillRect/>
          </a:stretch>
        </p:blipFill>
        <p:spPr>
          <a:xfrm>
            <a:off x="275302" y="301260"/>
            <a:ext cx="7294065" cy="3372321"/>
          </a:xfrm>
          <a:prstGeom prst="rect">
            <a:avLst/>
          </a:prstGeom>
          <a:effectLst>
            <a:glow rad="139700">
              <a:schemeClr val="accent2">
                <a:satMod val="175000"/>
                <a:alpha val="40000"/>
              </a:schemeClr>
            </a:glow>
            <a:outerShdw blurRad="63500" sx="102000" sy="102000" algn="ctr" rotWithShape="0">
              <a:prstClr val="black">
                <a:alpha val="40000"/>
              </a:prstClr>
            </a:outerShdw>
          </a:effectLst>
        </p:spPr>
      </p:pic>
      <p:pic>
        <p:nvPicPr>
          <p:cNvPr id="8" name="Picture 7">
            <a:extLst>
              <a:ext uri="{FF2B5EF4-FFF2-40B4-BE49-F238E27FC236}">
                <a16:creationId xmlns:a16="http://schemas.microsoft.com/office/drawing/2014/main" id="{A48131E1-0D54-A60F-36F8-A38387BAF02C}"/>
              </a:ext>
            </a:extLst>
          </p:cNvPr>
          <p:cNvPicPr>
            <a:picLocks noChangeAspect="1"/>
          </p:cNvPicPr>
          <p:nvPr/>
        </p:nvPicPr>
        <p:blipFill>
          <a:blip r:embed="rId3"/>
          <a:stretch>
            <a:fillRect/>
          </a:stretch>
        </p:blipFill>
        <p:spPr>
          <a:xfrm>
            <a:off x="5574890" y="4044031"/>
            <a:ext cx="4836000" cy="2140459"/>
          </a:xfrm>
          <a:prstGeom prst="rect">
            <a:avLst/>
          </a:prstGeom>
          <a:effectLst>
            <a:glow rad="139700">
              <a:schemeClr val="accent5">
                <a:satMod val="175000"/>
                <a:alpha val="40000"/>
              </a:schemeClr>
            </a:glow>
            <a:outerShdw blurRad="63500" sx="102000" sy="102000" algn="ctr" rotWithShape="0">
              <a:prstClr val="black">
                <a:alpha val="40000"/>
              </a:prstClr>
            </a:outerShdw>
          </a:effectLst>
        </p:spPr>
      </p:pic>
      <p:sp>
        <p:nvSpPr>
          <p:cNvPr id="10" name="Rectangle 9">
            <a:extLst>
              <a:ext uri="{FF2B5EF4-FFF2-40B4-BE49-F238E27FC236}">
                <a16:creationId xmlns:a16="http://schemas.microsoft.com/office/drawing/2014/main" id="{6CE9669E-D4F7-4D00-1EBC-CE26A60C9376}"/>
              </a:ext>
            </a:extLst>
          </p:cNvPr>
          <p:cNvSpPr/>
          <p:nvPr/>
        </p:nvSpPr>
        <p:spPr>
          <a:xfrm>
            <a:off x="275303" y="117298"/>
            <a:ext cx="7294064" cy="3679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t>Qualification</a:t>
            </a:r>
            <a:endParaRPr lang="en-IN" sz="2000" b="1" dirty="0">
              <a:solidFill>
                <a:srgbClr val="000000"/>
              </a:solidFill>
              <a:latin typeface="Calibri" panose="020F0502020204030204" pitchFamily="34" charset="0"/>
            </a:endParaRPr>
          </a:p>
        </p:txBody>
      </p:sp>
      <p:sp>
        <p:nvSpPr>
          <p:cNvPr id="2" name="Rectangle 1">
            <a:extLst>
              <a:ext uri="{FF2B5EF4-FFF2-40B4-BE49-F238E27FC236}">
                <a16:creationId xmlns:a16="http://schemas.microsoft.com/office/drawing/2014/main" id="{E0C00286-D4B5-7562-DD82-7B8E50DE5760}"/>
              </a:ext>
            </a:extLst>
          </p:cNvPr>
          <p:cNvSpPr/>
          <p:nvPr/>
        </p:nvSpPr>
        <p:spPr>
          <a:xfrm>
            <a:off x="5574890" y="3846685"/>
            <a:ext cx="4836000" cy="34115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sz="2000" b="1" dirty="0"/>
              <a:t>Salary Bonus</a:t>
            </a:r>
            <a:endParaRPr lang="en-IN" sz="2000" b="1" dirty="0">
              <a:solidFill>
                <a:srgbClr val="000000"/>
              </a:solidFill>
              <a:latin typeface="Calibri" panose="020F0502020204030204" pitchFamily="34" charset="0"/>
            </a:endParaRPr>
          </a:p>
        </p:txBody>
      </p:sp>
    </p:spTree>
    <p:extLst>
      <p:ext uri="{BB962C8B-B14F-4D97-AF65-F5344CB8AC3E}">
        <p14:creationId xmlns:p14="http://schemas.microsoft.com/office/powerpoint/2010/main" val="36524709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AA04305-062B-6765-95F6-9444261E4C8D}"/>
              </a:ext>
            </a:extLst>
          </p:cNvPr>
          <p:cNvPicPr>
            <a:picLocks noChangeAspect="1"/>
          </p:cNvPicPr>
          <p:nvPr/>
        </p:nvPicPr>
        <p:blipFill>
          <a:blip r:embed="rId2"/>
          <a:stretch>
            <a:fillRect/>
          </a:stretch>
        </p:blipFill>
        <p:spPr>
          <a:xfrm>
            <a:off x="0" y="0"/>
            <a:ext cx="12192000" cy="6858000"/>
          </a:xfrm>
          <a:prstGeom prst="rect">
            <a:avLst/>
          </a:prstGeom>
          <a:effectLst>
            <a:glow rad="228600">
              <a:schemeClr val="accent2">
                <a:satMod val="175000"/>
                <a:alpha val="40000"/>
              </a:schemeClr>
            </a:glow>
          </a:effectLst>
        </p:spPr>
      </p:pic>
      <p:sp>
        <p:nvSpPr>
          <p:cNvPr id="4" name="Rectangle 3">
            <a:extLst>
              <a:ext uri="{FF2B5EF4-FFF2-40B4-BE49-F238E27FC236}">
                <a16:creationId xmlns:a16="http://schemas.microsoft.com/office/drawing/2014/main" id="{58AEC670-32A9-7FCD-52F2-05416D566E67}"/>
              </a:ext>
            </a:extLst>
          </p:cNvPr>
          <p:cNvSpPr/>
          <p:nvPr/>
        </p:nvSpPr>
        <p:spPr>
          <a:xfrm>
            <a:off x="442451" y="176981"/>
            <a:ext cx="2251588" cy="471948"/>
          </a:xfrm>
          <a:prstGeom prst="rect">
            <a:avLst/>
          </a:prstGeom>
          <a:effectLst>
            <a:glow rad="101600">
              <a:schemeClr val="accent2">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ln w="0"/>
                <a:solidFill>
                  <a:schemeClr val="accent1"/>
                </a:solidFill>
                <a:effectLst>
                  <a:outerShdw blurRad="38100" dist="25400" dir="5400000" algn="ctr" rotWithShape="0">
                    <a:srgbClr val="6E747A">
                      <a:alpha val="43000"/>
                    </a:srgbClr>
                  </a:outerShdw>
                </a:effectLst>
              </a:rPr>
              <a:t>ER Diagram </a:t>
            </a:r>
            <a:endParaRPr lang="en-IN" sz="2000" dirty="0">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8755074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F969C4F-5485-AEA8-BEAC-25589C07913E}"/>
              </a:ext>
            </a:extLst>
          </p:cNvPr>
          <p:cNvSpPr txBox="1"/>
          <p:nvPr/>
        </p:nvSpPr>
        <p:spPr>
          <a:xfrm>
            <a:off x="344129" y="302246"/>
            <a:ext cx="6096000" cy="584775"/>
          </a:xfrm>
          <a:prstGeom prst="rect">
            <a:avLst/>
          </a:prstGeom>
          <a:noFill/>
        </p:spPr>
        <p:txBody>
          <a:bodyPr wrap="square">
            <a:spAutoFit/>
          </a:bodyPr>
          <a:lstStyle/>
          <a:p>
            <a:r>
              <a:rPr lang="en-IN" sz="3200" b="1" i="0" u="none" strike="noStrike" baseline="0" dirty="0">
                <a:solidFill>
                  <a:srgbClr val="FF0000"/>
                </a:solidFill>
                <a:latin typeface="Arial" panose="020B0604020202020204" pitchFamily="34" charset="0"/>
              </a:rPr>
              <a:t>Analysis Questions </a:t>
            </a:r>
            <a:endParaRPr lang="en-IN" sz="3200" dirty="0">
              <a:solidFill>
                <a:srgbClr val="FF0000"/>
              </a:solidFill>
            </a:endParaRPr>
          </a:p>
        </p:txBody>
      </p:sp>
      <p:sp>
        <p:nvSpPr>
          <p:cNvPr id="4" name="TextBox 3">
            <a:extLst>
              <a:ext uri="{FF2B5EF4-FFF2-40B4-BE49-F238E27FC236}">
                <a16:creationId xmlns:a16="http://schemas.microsoft.com/office/drawing/2014/main" id="{DC6A928F-B612-94D1-D5BB-424418B48046}"/>
              </a:ext>
            </a:extLst>
          </p:cNvPr>
          <p:cNvSpPr txBox="1"/>
          <p:nvPr/>
        </p:nvSpPr>
        <p:spPr>
          <a:xfrm>
            <a:off x="506361" y="887021"/>
            <a:ext cx="6096000" cy="400110"/>
          </a:xfrm>
          <a:prstGeom prst="rect">
            <a:avLst/>
          </a:prstGeom>
          <a:noFill/>
        </p:spPr>
        <p:txBody>
          <a:bodyPr wrap="square">
            <a:spAutoFit/>
          </a:bodyPr>
          <a:lstStyle/>
          <a:p>
            <a:r>
              <a:rPr lang="en-IN" sz="2000" b="1" dirty="0">
                <a:solidFill>
                  <a:srgbClr val="FF0000"/>
                </a:solidFill>
              </a:rPr>
              <a:t>1. EMPLOYEE INSIGHTS </a:t>
            </a:r>
            <a:endParaRPr lang="en-IN" sz="2000" dirty="0">
              <a:solidFill>
                <a:srgbClr val="FF0000"/>
              </a:solidFill>
            </a:endParaRPr>
          </a:p>
        </p:txBody>
      </p:sp>
      <p:sp>
        <p:nvSpPr>
          <p:cNvPr id="6" name="TextBox 5">
            <a:extLst>
              <a:ext uri="{FF2B5EF4-FFF2-40B4-BE49-F238E27FC236}">
                <a16:creationId xmlns:a16="http://schemas.microsoft.com/office/drawing/2014/main" id="{4825B5D9-CFE3-E255-C854-25F320FF011E}"/>
              </a:ext>
            </a:extLst>
          </p:cNvPr>
          <p:cNvSpPr txBox="1"/>
          <p:nvPr/>
        </p:nvSpPr>
        <p:spPr>
          <a:xfrm>
            <a:off x="506360" y="1471796"/>
            <a:ext cx="7733071" cy="400110"/>
          </a:xfrm>
          <a:prstGeom prst="rect">
            <a:avLst/>
          </a:prstGeom>
          <a:noFill/>
        </p:spPr>
        <p:txBody>
          <a:bodyPr wrap="square">
            <a:spAutoFit/>
          </a:bodyPr>
          <a:lstStyle/>
          <a:p>
            <a:r>
              <a:rPr lang="en-US" sz="2000" b="1" i="0" u="none" strike="noStrike" baseline="0" dirty="0"/>
              <a:t>Q1.How many unique employees are currently in the system? </a:t>
            </a:r>
          </a:p>
        </p:txBody>
      </p:sp>
      <p:pic>
        <p:nvPicPr>
          <p:cNvPr id="8" name="Picture 7">
            <a:extLst>
              <a:ext uri="{FF2B5EF4-FFF2-40B4-BE49-F238E27FC236}">
                <a16:creationId xmlns:a16="http://schemas.microsoft.com/office/drawing/2014/main" id="{4E862889-C84D-0AA8-F506-3120BCCBBABC}"/>
              </a:ext>
            </a:extLst>
          </p:cNvPr>
          <p:cNvPicPr>
            <a:picLocks noChangeAspect="1"/>
          </p:cNvPicPr>
          <p:nvPr/>
        </p:nvPicPr>
        <p:blipFill>
          <a:blip r:embed="rId2"/>
          <a:stretch>
            <a:fillRect/>
          </a:stretch>
        </p:blipFill>
        <p:spPr>
          <a:xfrm>
            <a:off x="718027" y="2475457"/>
            <a:ext cx="6464710" cy="1604929"/>
          </a:xfrm>
          <a:prstGeom prst="rect">
            <a:avLst/>
          </a:prstGeom>
          <a:effectLst>
            <a:glow rad="139700">
              <a:schemeClr val="accent2">
                <a:satMod val="175000"/>
                <a:alpha val="40000"/>
              </a:schemeClr>
            </a:glow>
          </a:effectLst>
        </p:spPr>
      </p:pic>
      <p:pic>
        <p:nvPicPr>
          <p:cNvPr id="10" name="Picture 9">
            <a:extLst>
              <a:ext uri="{FF2B5EF4-FFF2-40B4-BE49-F238E27FC236}">
                <a16:creationId xmlns:a16="http://schemas.microsoft.com/office/drawing/2014/main" id="{CB23015E-E075-014F-BC5B-7613B2D9E8A7}"/>
              </a:ext>
            </a:extLst>
          </p:cNvPr>
          <p:cNvPicPr>
            <a:picLocks noChangeAspect="1"/>
          </p:cNvPicPr>
          <p:nvPr/>
        </p:nvPicPr>
        <p:blipFill>
          <a:blip r:embed="rId3"/>
          <a:stretch>
            <a:fillRect/>
          </a:stretch>
        </p:blipFill>
        <p:spPr>
          <a:xfrm>
            <a:off x="7602520" y="2475458"/>
            <a:ext cx="4307463" cy="2510637"/>
          </a:xfrm>
          <a:prstGeom prst="rect">
            <a:avLst/>
          </a:prstGeom>
          <a:effectLst>
            <a:glow rad="139700">
              <a:schemeClr val="accent5">
                <a:satMod val="175000"/>
                <a:alpha val="40000"/>
              </a:schemeClr>
            </a:glow>
          </a:effectLst>
        </p:spPr>
      </p:pic>
    </p:spTree>
    <p:extLst>
      <p:ext uri="{BB962C8B-B14F-4D97-AF65-F5344CB8AC3E}">
        <p14:creationId xmlns:p14="http://schemas.microsoft.com/office/powerpoint/2010/main" val="14946619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27B5937-8E1F-651B-46E1-3857924F5D6C}"/>
              </a:ext>
            </a:extLst>
          </p:cNvPr>
          <p:cNvPicPr>
            <a:picLocks noChangeAspect="1"/>
          </p:cNvPicPr>
          <p:nvPr/>
        </p:nvPicPr>
        <p:blipFill>
          <a:blip r:embed="rId2"/>
          <a:stretch>
            <a:fillRect/>
          </a:stretch>
        </p:blipFill>
        <p:spPr>
          <a:xfrm>
            <a:off x="601123" y="3429000"/>
            <a:ext cx="3388107" cy="2942303"/>
          </a:xfrm>
          <a:prstGeom prst="rect">
            <a:avLst/>
          </a:prstGeom>
          <a:effectLst>
            <a:glow rad="139700">
              <a:schemeClr val="accent4">
                <a:satMod val="175000"/>
                <a:alpha val="40000"/>
              </a:schemeClr>
            </a:glow>
          </a:effectLst>
        </p:spPr>
      </p:pic>
      <p:pic>
        <p:nvPicPr>
          <p:cNvPr id="5" name="Picture 4">
            <a:extLst>
              <a:ext uri="{FF2B5EF4-FFF2-40B4-BE49-F238E27FC236}">
                <a16:creationId xmlns:a16="http://schemas.microsoft.com/office/drawing/2014/main" id="{3BBBD0F8-D96D-5C9C-03D4-ABD57628A1BA}"/>
              </a:ext>
            </a:extLst>
          </p:cNvPr>
          <p:cNvPicPr>
            <a:picLocks noChangeAspect="1"/>
          </p:cNvPicPr>
          <p:nvPr/>
        </p:nvPicPr>
        <p:blipFill>
          <a:blip r:embed="rId3"/>
          <a:stretch>
            <a:fillRect/>
          </a:stretch>
        </p:blipFill>
        <p:spPr>
          <a:xfrm>
            <a:off x="601124" y="938519"/>
            <a:ext cx="9899727" cy="2133811"/>
          </a:xfrm>
          <a:prstGeom prst="rect">
            <a:avLst/>
          </a:prstGeom>
          <a:effectLst>
            <a:glow rad="139700">
              <a:schemeClr val="accent2">
                <a:satMod val="175000"/>
                <a:alpha val="40000"/>
              </a:schemeClr>
            </a:glow>
          </a:effectLst>
        </p:spPr>
      </p:pic>
      <p:sp>
        <p:nvSpPr>
          <p:cNvPr id="7" name="TextBox 6">
            <a:extLst>
              <a:ext uri="{FF2B5EF4-FFF2-40B4-BE49-F238E27FC236}">
                <a16:creationId xmlns:a16="http://schemas.microsoft.com/office/drawing/2014/main" id="{3D799F82-450D-517B-7479-6DD40985E512}"/>
              </a:ext>
            </a:extLst>
          </p:cNvPr>
          <p:cNvSpPr txBox="1"/>
          <p:nvPr/>
        </p:nvSpPr>
        <p:spPr>
          <a:xfrm>
            <a:off x="512634" y="291384"/>
            <a:ext cx="9476940" cy="461665"/>
          </a:xfrm>
          <a:prstGeom prst="rect">
            <a:avLst/>
          </a:prstGeom>
          <a:noFill/>
        </p:spPr>
        <p:txBody>
          <a:bodyPr wrap="square">
            <a:spAutoFit/>
          </a:bodyPr>
          <a:lstStyle/>
          <a:p>
            <a:r>
              <a:rPr lang="en-US" sz="2400" b="1" i="0" u="none" strike="noStrike" baseline="0" dirty="0"/>
              <a:t>Q2.Which departments have the highest number of employees? </a:t>
            </a:r>
          </a:p>
        </p:txBody>
      </p:sp>
      <p:pic>
        <p:nvPicPr>
          <p:cNvPr id="1026" name="Picture 2" descr="SQL LEFT JOIN Keyword">
            <a:extLst>
              <a:ext uri="{FF2B5EF4-FFF2-40B4-BE49-F238E27FC236}">
                <a16:creationId xmlns:a16="http://schemas.microsoft.com/office/drawing/2014/main" id="{EE521876-117E-CA85-E946-AB7A6C9681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32069" y="3689247"/>
            <a:ext cx="2200275" cy="1504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54828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71145-EB77-BFAA-02FA-E47A6E05FFB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D5951D33-CB9C-89F1-449B-BF76D37F472D}"/>
              </a:ext>
            </a:extLst>
          </p:cNvPr>
          <p:cNvSpPr txBox="1"/>
          <p:nvPr/>
        </p:nvSpPr>
        <p:spPr>
          <a:xfrm>
            <a:off x="512634" y="291384"/>
            <a:ext cx="9476940" cy="400110"/>
          </a:xfrm>
          <a:prstGeom prst="rect">
            <a:avLst/>
          </a:prstGeom>
          <a:noFill/>
        </p:spPr>
        <p:txBody>
          <a:bodyPr wrap="square">
            <a:spAutoFit/>
          </a:bodyPr>
          <a:lstStyle/>
          <a:p>
            <a:r>
              <a:rPr lang="en-US" sz="2000" b="1" i="0" u="none" strike="noStrike" baseline="0" dirty="0"/>
              <a:t>Q3.</a:t>
            </a:r>
            <a:r>
              <a:rPr lang="en-US" sz="2000" b="1" dirty="0"/>
              <a:t>What is the average salary per department? </a:t>
            </a:r>
          </a:p>
        </p:txBody>
      </p:sp>
      <p:pic>
        <p:nvPicPr>
          <p:cNvPr id="4" name="Picture 3">
            <a:extLst>
              <a:ext uri="{FF2B5EF4-FFF2-40B4-BE49-F238E27FC236}">
                <a16:creationId xmlns:a16="http://schemas.microsoft.com/office/drawing/2014/main" id="{9B619C79-9B55-FFF3-CCB0-F3CCE85128F6}"/>
              </a:ext>
            </a:extLst>
          </p:cNvPr>
          <p:cNvPicPr>
            <a:picLocks noChangeAspect="1"/>
          </p:cNvPicPr>
          <p:nvPr/>
        </p:nvPicPr>
        <p:blipFill>
          <a:blip r:embed="rId2"/>
          <a:stretch>
            <a:fillRect/>
          </a:stretch>
        </p:blipFill>
        <p:spPr>
          <a:xfrm>
            <a:off x="778104" y="3214243"/>
            <a:ext cx="3262953" cy="2969654"/>
          </a:xfrm>
          <a:prstGeom prst="rect">
            <a:avLst/>
          </a:prstGeom>
          <a:effectLst>
            <a:glow rad="139700">
              <a:schemeClr val="accent6">
                <a:satMod val="175000"/>
                <a:alpha val="40000"/>
              </a:schemeClr>
            </a:glow>
          </a:effectLst>
        </p:spPr>
      </p:pic>
      <p:pic>
        <p:nvPicPr>
          <p:cNvPr id="8" name="Picture 7">
            <a:extLst>
              <a:ext uri="{FF2B5EF4-FFF2-40B4-BE49-F238E27FC236}">
                <a16:creationId xmlns:a16="http://schemas.microsoft.com/office/drawing/2014/main" id="{A4BEC1CB-D552-C49C-5221-ECDE02447F8A}"/>
              </a:ext>
            </a:extLst>
          </p:cNvPr>
          <p:cNvPicPr>
            <a:picLocks noChangeAspect="1"/>
          </p:cNvPicPr>
          <p:nvPr/>
        </p:nvPicPr>
        <p:blipFill>
          <a:blip r:embed="rId3"/>
          <a:stretch>
            <a:fillRect/>
          </a:stretch>
        </p:blipFill>
        <p:spPr>
          <a:xfrm>
            <a:off x="778105" y="906071"/>
            <a:ext cx="8464218" cy="1910419"/>
          </a:xfrm>
          <a:prstGeom prst="rect">
            <a:avLst/>
          </a:prstGeom>
          <a:effectLst>
            <a:glow rad="101600">
              <a:schemeClr val="accent2">
                <a:satMod val="175000"/>
                <a:alpha val="40000"/>
              </a:schemeClr>
            </a:glow>
          </a:effectLst>
        </p:spPr>
      </p:pic>
    </p:spTree>
    <p:extLst>
      <p:ext uri="{BB962C8B-B14F-4D97-AF65-F5344CB8AC3E}">
        <p14:creationId xmlns:p14="http://schemas.microsoft.com/office/powerpoint/2010/main" val="38553407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CBAA605-72F2-7249-2E69-A80B71C79AB1}"/>
              </a:ext>
            </a:extLst>
          </p:cNvPr>
          <p:cNvSpPr txBox="1"/>
          <p:nvPr/>
        </p:nvSpPr>
        <p:spPr>
          <a:xfrm>
            <a:off x="521110" y="160858"/>
            <a:ext cx="6096000" cy="400110"/>
          </a:xfrm>
          <a:prstGeom prst="rect">
            <a:avLst/>
          </a:prstGeom>
          <a:noFill/>
        </p:spPr>
        <p:txBody>
          <a:bodyPr wrap="square">
            <a:spAutoFit/>
          </a:bodyPr>
          <a:lstStyle/>
          <a:p>
            <a:r>
              <a:rPr lang="en-US" sz="2000" b="1" i="0" u="none" strike="noStrike" baseline="0" dirty="0"/>
              <a:t>Q4.Who are the top 5 highest-paid employees? </a:t>
            </a:r>
          </a:p>
        </p:txBody>
      </p:sp>
      <p:pic>
        <p:nvPicPr>
          <p:cNvPr id="5" name="Picture 4">
            <a:extLst>
              <a:ext uri="{FF2B5EF4-FFF2-40B4-BE49-F238E27FC236}">
                <a16:creationId xmlns:a16="http://schemas.microsoft.com/office/drawing/2014/main" id="{16D8D0D6-B089-3759-0096-93E9BAA03713}"/>
              </a:ext>
            </a:extLst>
          </p:cNvPr>
          <p:cNvPicPr>
            <a:picLocks noChangeAspect="1"/>
          </p:cNvPicPr>
          <p:nvPr/>
        </p:nvPicPr>
        <p:blipFill>
          <a:blip r:embed="rId2"/>
          <a:stretch>
            <a:fillRect/>
          </a:stretch>
        </p:blipFill>
        <p:spPr>
          <a:xfrm>
            <a:off x="855405" y="2232505"/>
            <a:ext cx="4011560" cy="1493922"/>
          </a:xfrm>
          <a:prstGeom prst="rect">
            <a:avLst/>
          </a:prstGeom>
          <a:effectLst>
            <a:glow rad="139700">
              <a:schemeClr val="accent4">
                <a:satMod val="175000"/>
                <a:alpha val="40000"/>
              </a:schemeClr>
            </a:glow>
          </a:effectLst>
        </p:spPr>
      </p:pic>
      <p:pic>
        <p:nvPicPr>
          <p:cNvPr id="7" name="Picture 6">
            <a:extLst>
              <a:ext uri="{FF2B5EF4-FFF2-40B4-BE49-F238E27FC236}">
                <a16:creationId xmlns:a16="http://schemas.microsoft.com/office/drawing/2014/main" id="{80E01A16-DAD9-EBC9-D481-2AEF876302E9}"/>
              </a:ext>
            </a:extLst>
          </p:cNvPr>
          <p:cNvPicPr>
            <a:picLocks noChangeAspect="1"/>
          </p:cNvPicPr>
          <p:nvPr/>
        </p:nvPicPr>
        <p:blipFill>
          <a:blip r:embed="rId3"/>
          <a:stretch>
            <a:fillRect/>
          </a:stretch>
        </p:blipFill>
        <p:spPr>
          <a:xfrm>
            <a:off x="855405" y="626201"/>
            <a:ext cx="8200102" cy="1374081"/>
          </a:xfrm>
          <a:prstGeom prst="rect">
            <a:avLst/>
          </a:prstGeom>
          <a:effectLst>
            <a:glow rad="139700">
              <a:schemeClr val="accent2">
                <a:satMod val="175000"/>
                <a:alpha val="40000"/>
              </a:schemeClr>
            </a:glow>
          </a:effectLst>
        </p:spPr>
      </p:pic>
      <p:sp>
        <p:nvSpPr>
          <p:cNvPr id="8" name="TextBox 7">
            <a:extLst>
              <a:ext uri="{FF2B5EF4-FFF2-40B4-BE49-F238E27FC236}">
                <a16:creationId xmlns:a16="http://schemas.microsoft.com/office/drawing/2014/main" id="{EBC4C490-0BB4-BC76-B905-79C45F2AACB4}"/>
              </a:ext>
            </a:extLst>
          </p:cNvPr>
          <p:cNvSpPr txBox="1"/>
          <p:nvPr/>
        </p:nvSpPr>
        <p:spPr>
          <a:xfrm>
            <a:off x="521110" y="3958649"/>
            <a:ext cx="8298425" cy="400110"/>
          </a:xfrm>
          <a:prstGeom prst="rect">
            <a:avLst/>
          </a:prstGeom>
          <a:noFill/>
        </p:spPr>
        <p:txBody>
          <a:bodyPr wrap="square">
            <a:spAutoFit/>
          </a:bodyPr>
          <a:lstStyle/>
          <a:p>
            <a:r>
              <a:rPr lang="en-IN" sz="2000" b="1" dirty="0"/>
              <a:t>Q5.</a:t>
            </a:r>
            <a:r>
              <a:rPr lang="en-US" sz="2000" b="1" dirty="0"/>
              <a:t>What is the total salary expenditure across the company? </a:t>
            </a:r>
          </a:p>
        </p:txBody>
      </p:sp>
      <p:pic>
        <p:nvPicPr>
          <p:cNvPr id="9" name="Picture 8">
            <a:extLst>
              <a:ext uri="{FF2B5EF4-FFF2-40B4-BE49-F238E27FC236}">
                <a16:creationId xmlns:a16="http://schemas.microsoft.com/office/drawing/2014/main" id="{2CE76409-8B6F-0F74-7D44-48C8400905CC}"/>
              </a:ext>
            </a:extLst>
          </p:cNvPr>
          <p:cNvPicPr>
            <a:picLocks noChangeAspect="1"/>
          </p:cNvPicPr>
          <p:nvPr/>
        </p:nvPicPr>
        <p:blipFill>
          <a:blip r:embed="rId4"/>
          <a:stretch>
            <a:fillRect/>
          </a:stretch>
        </p:blipFill>
        <p:spPr>
          <a:xfrm>
            <a:off x="855405" y="5516902"/>
            <a:ext cx="4036694" cy="895483"/>
          </a:xfrm>
          <a:prstGeom prst="rect">
            <a:avLst/>
          </a:prstGeom>
          <a:effectLst>
            <a:glow rad="139700">
              <a:schemeClr val="accent4">
                <a:satMod val="175000"/>
                <a:alpha val="40000"/>
              </a:schemeClr>
            </a:glow>
          </a:effectLst>
        </p:spPr>
      </p:pic>
      <p:pic>
        <p:nvPicPr>
          <p:cNvPr id="10" name="Picture 9">
            <a:extLst>
              <a:ext uri="{FF2B5EF4-FFF2-40B4-BE49-F238E27FC236}">
                <a16:creationId xmlns:a16="http://schemas.microsoft.com/office/drawing/2014/main" id="{C1679750-9A73-4173-ED5C-8428C31C30D6}"/>
              </a:ext>
            </a:extLst>
          </p:cNvPr>
          <p:cNvPicPr>
            <a:picLocks noChangeAspect="1"/>
          </p:cNvPicPr>
          <p:nvPr/>
        </p:nvPicPr>
        <p:blipFill>
          <a:blip r:embed="rId5"/>
          <a:stretch>
            <a:fillRect/>
          </a:stretch>
        </p:blipFill>
        <p:spPr>
          <a:xfrm>
            <a:off x="776747" y="4686240"/>
            <a:ext cx="8530036" cy="457264"/>
          </a:xfrm>
          <a:prstGeom prst="rect">
            <a:avLst/>
          </a:prstGeom>
          <a:effectLst>
            <a:glow rad="139700">
              <a:schemeClr val="accent2">
                <a:satMod val="175000"/>
                <a:alpha val="40000"/>
              </a:schemeClr>
            </a:glow>
          </a:effectLst>
        </p:spPr>
      </p:pic>
    </p:spTree>
    <p:extLst>
      <p:ext uri="{BB962C8B-B14F-4D97-AF65-F5344CB8AC3E}">
        <p14:creationId xmlns:p14="http://schemas.microsoft.com/office/powerpoint/2010/main" val="39406421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B6646-B43E-913E-0B08-509B79AE8D62}"/>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03041DD8-07C8-6A75-7E61-5E617A28DA76}"/>
              </a:ext>
            </a:extLst>
          </p:cNvPr>
          <p:cNvSpPr txBox="1"/>
          <p:nvPr/>
        </p:nvSpPr>
        <p:spPr>
          <a:xfrm>
            <a:off x="599767" y="416816"/>
            <a:ext cx="7836310" cy="461665"/>
          </a:xfrm>
          <a:prstGeom prst="rect">
            <a:avLst/>
          </a:prstGeom>
          <a:noFill/>
        </p:spPr>
        <p:txBody>
          <a:bodyPr wrap="square">
            <a:spAutoFit/>
          </a:bodyPr>
          <a:lstStyle/>
          <a:p>
            <a:r>
              <a:rPr lang="en-US" sz="2400" b="1" i="0" u="none" strike="noStrike" baseline="0" dirty="0">
                <a:solidFill>
                  <a:srgbClr val="FF0000"/>
                </a:solidFill>
                <a:latin typeface="Arial" panose="020B0604020202020204" pitchFamily="34" charset="0"/>
              </a:rPr>
              <a:t>2. JOB ROLE AND DEPARTMENT ANALYSIS </a:t>
            </a:r>
            <a:endParaRPr lang="en-IN" sz="2400" dirty="0">
              <a:solidFill>
                <a:srgbClr val="FF0000"/>
              </a:solidFill>
            </a:endParaRPr>
          </a:p>
        </p:txBody>
      </p:sp>
      <p:sp>
        <p:nvSpPr>
          <p:cNvPr id="3" name="TextBox 2">
            <a:extLst>
              <a:ext uri="{FF2B5EF4-FFF2-40B4-BE49-F238E27FC236}">
                <a16:creationId xmlns:a16="http://schemas.microsoft.com/office/drawing/2014/main" id="{697AE5B8-9301-A18E-7B53-D9679F11515B}"/>
              </a:ext>
            </a:extLst>
          </p:cNvPr>
          <p:cNvSpPr txBox="1"/>
          <p:nvPr/>
        </p:nvSpPr>
        <p:spPr>
          <a:xfrm>
            <a:off x="855406" y="1017017"/>
            <a:ext cx="8731046" cy="400110"/>
          </a:xfrm>
          <a:prstGeom prst="rect">
            <a:avLst/>
          </a:prstGeom>
          <a:noFill/>
        </p:spPr>
        <p:txBody>
          <a:bodyPr wrap="square">
            <a:spAutoFit/>
          </a:bodyPr>
          <a:lstStyle/>
          <a:p>
            <a:r>
              <a:rPr lang="en-US" sz="2000" b="1" i="0" u="none" strike="noStrike" baseline="0" dirty="0"/>
              <a:t>How many different job roles exist in each department? </a:t>
            </a:r>
          </a:p>
        </p:txBody>
      </p:sp>
      <p:pic>
        <p:nvPicPr>
          <p:cNvPr id="5" name="Picture 4">
            <a:extLst>
              <a:ext uri="{FF2B5EF4-FFF2-40B4-BE49-F238E27FC236}">
                <a16:creationId xmlns:a16="http://schemas.microsoft.com/office/drawing/2014/main" id="{3EA47BBA-F4D4-F6FA-A483-F5B3146595CB}"/>
              </a:ext>
            </a:extLst>
          </p:cNvPr>
          <p:cNvPicPr>
            <a:picLocks noChangeAspect="1"/>
          </p:cNvPicPr>
          <p:nvPr/>
        </p:nvPicPr>
        <p:blipFill>
          <a:blip r:embed="rId2"/>
          <a:stretch>
            <a:fillRect/>
          </a:stretch>
        </p:blipFill>
        <p:spPr>
          <a:xfrm>
            <a:off x="855406" y="2902269"/>
            <a:ext cx="3539613" cy="3788492"/>
          </a:xfrm>
          <a:prstGeom prst="rect">
            <a:avLst/>
          </a:prstGeom>
          <a:effectLst>
            <a:glow rad="139700">
              <a:schemeClr val="accent4">
                <a:satMod val="175000"/>
                <a:alpha val="40000"/>
              </a:schemeClr>
            </a:glow>
          </a:effectLst>
        </p:spPr>
      </p:pic>
      <p:pic>
        <p:nvPicPr>
          <p:cNvPr id="7" name="Picture 6">
            <a:extLst>
              <a:ext uri="{FF2B5EF4-FFF2-40B4-BE49-F238E27FC236}">
                <a16:creationId xmlns:a16="http://schemas.microsoft.com/office/drawing/2014/main" id="{647CE9A5-483D-528B-BC30-13B028383836}"/>
              </a:ext>
            </a:extLst>
          </p:cNvPr>
          <p:cNvPicPr>
            <a:picLocks noChangeAspect="1"/>
          </p:cNvPicPr>
          <p:nvPr/>
        </p:nvPicPr>
        <p:blipFill>
          <a:blip r:embed="rId3"/>
          <a:stretch>
            <a:fillRect/>
          </a:stretch>
        </p:blipFill>
        <p:spPr>
          <a:xfrm>
            <a:off x="855406" y="1585246"/>
            <a:ext cx="7370174" cy="1020301"/>
          </a:xfrm>
          <a:prstGeom prst="rect">
            <a:avLst/>
          </a:prstGeom>
          <a:effectLst>
            <a:glow rad="101600">
              <a:schemeClr val="accent2">
                <a:satMod val="175000"/>
                <a:alpha val="40000"/>
              </a:schemeClr>
            </a:glow>
          </a:effectLst>
        </p:spPr>
      </p:pic>
    </p:spTree>
    <p:extLst>
      <p:ext uri="{BB962C8B-B14F-4D97-AF65-F5344CB8AC3E}">
        <p14:creationId xmlns:p14="http://schemas.microsoft.com/office/powerpoint/2010/main" val="12182075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0C50F50-10E2-EF9B-CDF2-1FD61DF9B479}"/>
              </a:ext>
            </a:extLst>
          </p:cNvPr>
          <p:cNvSpPr txBox="1"/>
          <p:nvPr/>
        </p:nvSpPr>
        <p:spPr>
          <a:xfrm>
            <a:off x="814645" y="643390"/>
            <a:ext cx="6096000" cy="400110"/>
          </a:xfrm>
          <a:prstGeom prst="rect">
            <a:avLst/>
          </a:prstGeom>
          <a:noFill/>
        </p:spPr>
        <p:txBody>
          <a:bodyPr wrap="square">
            <a:spAutoFit/>
          </a:bodyPr>
          <a:lstStyle/>
          <a:p>
            <a:r>
              <a:rPr lang="en-US" sz="2000" b="1" i="0" u="none" strike="noStrike" baseline="0" dirty="0"/>
              <a:t>Which job roles offer the highest salary? </a:t>
            </a:r>
          </a:p>
        </p:txBody>
      </p:sp>
      <p:pic>
        <p:nvPicPr>
          <p:cNvPr id="5" name="Picture 4">
            <a:extLst>
              <a:ext uri="{FF2B5EF4-FFF2-40B4-BE49-F238E27FC236}">
                <a16:creationId xmlns:a16="http://schemas.microsoft.com/office/drawing/2014/main" id="{CA4CC8E5-5472-023A-B076-C1DC766B52E4}"/>
              </a:ext>
            </a:extLst>
          </p:cNvPr>
          <p:cNvPicPr>
            <a:picLocks noChangeAspect="1"/>
          </p:cNvPicPr>
          <p:nvPr/>
        </p:nvPicPr>
        <p:blipFill>
          <a:blip r:embed="rId2"/>
          <a:stretch>
            <a:fillRect/>
          </a:stretch>
        </p:blipFill>
        <p:spPr>
          <a:xfrm>
            <a:off x="6910645" y="1393875"/>
            <a:ext cx="4077269" cy="3886047"/>
          </a:xfrm>
          <a:prstGeom prst="rect">
            <a:avLst/>
          </a:prstGeom>
          <a:effectLst>
            <a:glow rad="139700">
              <a:schemeClr val="accent4">
                <a:satMod val="175000"/>
                <a:alpha val="40000"/>
              </a:schemeClr>
            </a:glow>
          </a:effectLst>
        </p:spPr>
      </p:pic>
      <p:pic>
        <p:nvPicPr>
          <p:cNvPr id="7" name="Picture 6">
            <a:extLst>
              <a:ext uri="{FF2B5EF4-FFF2-40B4-BE49-F238E27FC236}">
                <a16:creationId xmlns:a16="http://schemas.microsoft.com/office/drawing/2014/main" id="{E39B5410-A4D8-E55C-DF31-F01EF52D01C2}"/>
              </a:ext>
            </a:extLst>
          </p:cNvPr>
          <p:cNvPicPr>
            <a:picLocks noChangeAspect="1"/>
          </p:cNvPicPr>
          <p:nvPr/>
        </p:nvPicPr>
        <p:blipFill>
          <a:blip r:embed="rId3"/>
          <a:stretch>
            <a:fillRect/>
          </a:stretch>
        </p:blipFill>
        <p:spPr>
          <a:xfrm>
            <a:off x="687389" y="1393876"/>
            <a:ext cx="5744665" cy="2224395"/>
          </a:xfrm>
          <a:prstGeom prst="rect">
            <a:avLst/>
          </a:prstGeom>
          <a:effectLst>
            <a:glow rad="139700">
              <a:schemeClr val="accent2">
                <a:satMod val="175000"/>
                <a:alpha val="40000"/>
              </a:schemeClr>
            </a:glow>
          </a:effectLst>
        </p:spPr>
      </p:pic>
    </p:spTree>
    <p:extLst>
      <p:ext uri="{BB962C8B-B14F-4D97-AF65-F5344CB8AC3E}">
        <p14:creationId xmlns:p14="http://schemas.microsoft.com/office/powerpoint/2010/main" val="40659158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AA01007-B413-A0D5-F1CC-82E360D093D6}"/>
              </a:ext>
            </a:extLst>
          </p:cNvPr>
          <p:cNvSpPr txBox="1"/>
          <p:nvPr/>
        </p:nvSpPr>
        <p:spPr>
          <a:xfrm>
            <a:off x="924232" y="987521"/>
            <a:ext cx="8229600" cy="400110"/>
          </a:xfrm>
          <a:prstGeom prst="rect">
            <a:avLst/>
          </a:prstGeom>
          <a:noFill/>
        </p:spPr>
        <p:txBody>
          <a:bodyPr wrap="square">
            <a:spAutoFit/>
          </a:bodyPr>
          <a:lstStyle/>
          <a:p>
            <a:r>
              <a:rPr lang="en-US" sz="2000" b="1" dirty="0"/>
              <a:t>Which departments have the highest total salary allocation? </a:t>
            </a:r>
          </a:p>
        </p:txBody>
      </p:sp>
      <p:pic>
        <p:nvPicPr>
          <p:cNvPr id="5" name="Picture 4">
            <a:extLst>
              <a:ext uri="{FF2B5EF4-FFF2-40B4-BE49-F238E27FC236}">
                <a16:creationId xmlns:a16="http://schemas.microsoft.com/office/drawing/2014/main" id="{F07DCFD5-DDDD-05F9-86A1-8B11B03F39DC}"/>
              </a:ext>
            </a:extLst>
          </p:cNvPr>
          <p:cNvPicPr>
            <a:picLocks noChangeAspect="1"/>
          </p:cNvPicPr>
          <p:nvPr/>
        </p:nvPicPr>
        <p:blipFill>
          <a:blip r:embed="rId2"/>
          <a:stretch>
            <a:fillRect/>
          </a:stretch>
        </p:blipFill>
        <p:spPr>
          <a:xfrm>
            <a:off x="7807866" y="1877961"/>
            <a:ext cx="3302586" cy="3177488"/>
          </a:xfrm>
          <a:prstGeom prst="rect">
            <a:avLst/>
          </a:prstGeom>
          <a:effectLst>
            <a:glow rad="139700">
              <a:schemeClr val="accent4">
                <a:satMod val="175000"/>
                <a:alpha val="40000"/>
              </a:schemeClr>
            </a:glow>
          </a:effectLst>
        </p:spPr>
      </p:pic>
      <p:pic>
        <p:nvPicPr>
          <p:cNvPr id="7" name="Picture 6">
            <a:extLst>
              <a:ext uri="{FF2B5EF4-FFF2-40B4-BE49-F238E27FC236}">
                <a16:creationId xmlns:a16="http://schemas.microsoft.com/office/drawing/2014/main" id="{1B024CAB-7774-39C5-E205-1F7A3882CC32}"/>
              </a:ext>
            </a:extLst>
          </p:cNvPr>
          <p:cNvPicPr>
            <a:picLocks noChangeAspect="1"/>
          </p:cNvPicPr>
          <p:nvPr/>
        </p:nvPicPr>
        <p:blipFill>
          <a:blip r:embed="rId3"/>
          <a:stretch>
            <a:fillRect/>
          </a:stretch>
        </p:blipFill>
        <p:spPr>
          <a:xfrm>
            <a:off x="924232" y="1877961"/>
            <a:ext cx="6287377" cy="2133600"/>
          </a:xfrm>
          <a:prstGeom prst="rect">
            <a:avLst/>
          </a:prstGeom>
          <a:effectLst>
            <a:glow rad="139700">
              <a:schemeClr val="accent2">
                <a:satMod val="175000"/>
                <a:alpha val="40000"/>
              </a:schemeClr>
            </a:glow>
          </a:effectLst>
        </p:spPr>
      </p:pic>
    </p:spTree>
    <p:extLst>
      <p:ext uri="{BB962C8B-B14F-4D97-AF65-F5344CB8AC3E}">
        <p14:creationId xmlns:p14="http://schemas.microsoft.com/office/powerpoint/2010/main" val="10729908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A9C7AE1-132C-8E59-6136-A8EB3647825A}"/>
              </a:ext>
            </a:extLst>
          </p:cNvPr>
          <p:cNvSpPr txBox="1"/>
          <p:nvPr/>
        </p:nvSpPr>
        <p:spPr>
          <a:xfrm>
            <a:off x="816077" y="230002"/>
            <a:ext cx="7757652" cy="677108"/>
          </a:xfrm>
          <a:prstGeom prst="rect">
            <a:avLst/>
          </a:prstGeom>
          <a:noFill/>
        </p:spPr>
        <p:txBody>
          <a:bodyPr wrap="square">
            <a:spAutoFit/>
          </a:bodyPr>
          <a:lstStyle/>
          <a:p>
            <a:pPr algn="l"/>
            <a:endParaRPr lang="en-IN" sz="1400" b="0" i="0" u="none" strike="noStrike" baseline="0" dirty="0">
              <a:solidFill>
                <a:srgbClr val="000000"/>
              </a:solidFill>
              <a:latin typeface="Arial" panose="020B0604020202020204" pitchFamily="34" charset="0"/>
            </a:endParaRPr>
          </a:p>
          <a:p>
            <a:r>
              <a:rPr lang="en-US" sz="2400" b="1" i="0" u="none" strike="noStrike" baseline="0" dirty="0">
                <a:solidFill>
                  <a:srgbClr val="FF0000"/>
                </a:solidFill>
                <a:latin typeface="Arial" panose="020B0604020202020204" pitchFamily="34" charset="0"/>
              </a:rPr>
              <a:t>3. QUALIFICATION AND SKILLS ANALYSIS </a:t>
            </a:r>
            <a:endParaRPr lang="en-IN" sz="2400" dirty="0">
              <a:solidFill>
                <a:srgbClr val="FF0000"/>
              </a:solidFill>
            </a:endParaRPr>
          </a:p>
        </p:txBody>
      </p:sp>
      <p:sp>
        <p:nvSpPr>
          <p:cNvPr id="5" name="TextBox 4">
            <a:extLst>
              <a:ext uri="{FF2B5EF4-FFF2-40B4-BE49-F238E27FC236}">
                <a16:creationId xmlns:a16="http://schemas.microsoft.com/office/drawing/2014/main" id="{14489D1A-19CB-B6B6-F733-C5BA45052D19}"/>
              </a:ext>
            </a:extLst>
          </p:cNvPr>
          <p:cNvSpPr txBox="1"/>
          <p:nvPr/>
        </p:nvSpPr>
        <p:spPr>
          <a:xfrm>
            <a:off x="1120877" y="1133723"/>
            <a:ext cx="8701548" cy="400110"/>
          </a:xfrm>
          <a:prstGeom prst="rect">
            <a:avLst/>
          </a:prstGeom>
          <a:noFill/>
        </p:spPr>
        <p:txBody>
          <a:bodyPr wrap="square">
            <a:spAutoFit/>
          </a:bodyPr>
          <a:lstStyle/>
          <a:p>
            <a:r>
              <a:rPr lang="en-US" sz="2000" b="1" i="0" u="none" strike="noStrike" baseline="0" dirty="0">
                <a:latin typeface="Arial" panose="020B0604020202020204" pitchFamily="34" charset="0"/>
              </a:rPr>
              <a:t> How many employees have at least one qualification listed? </a:t>
            </a:r>
          </a:p>
        </p:txBody>
      </p:sp>
      <p:pic>
        <p:nvPicPr>
          <p:cNvPr id="7" name="Picture 6">
            <a:extLst>
              <a:ext uri="{FF2B5EF4-FFF2-40B4-BE49-F238E27FC236}">
                <a16:creationId xmlns:a16="http://schemas.microsoft.com/office/drawing/2014/main" id="{7C16AF1B-F3C5-2102-E0B3-8E5F8854661D}"/>
              </a:ext>
            </a:extLst>
          </p:cNvPr>
          <p:cNvPicPr>
            <a:picLocks noChangeAspect="1"/>
          </p:cNvPicPr>
          <p:nvPr/>
        </p:nvPicPr>
        <p:blipFill>
          <a:blip r:embed="rId2"/>
          <a:stretch>
            <a:fillRect/>
          </a:stretch>
        </p:blipFill>
        <p:spPr>
          <a:xfrm>
            <a:off x="8198229" y="1788140"/>
            <a:ext cx="2872894" cy="1157537"/>
          </a:xfrm>
          <a:prstGeom prst="rect">
            <a:avLst/>
          </a:prstGeom>
          <a:effectLst>
            <a:glow rad="139700">
              <a:schemeClr val="accent4">
                <a:satMod val="175000"/>
                <a:alpha val="40000"/>
              </a:schemeClr>
            </a:glow>
          </a:effectLst>
        </p:spPr>
      </p:pic>
      <p:pic>
        <p:nvPicPr>
          <p:cNvPr id="9" name="Picture 8">
            <a:extLst>
              <a:ext uri="{FF2B5EF4-FFF2-40B4-BE49-F238E27FC236}">
                <a16:creationId xmlns:a16="http://schemas.microsoft.com/office/drawing/2014/main" id="{242ACB88-3793-D0A1-F5B6-F1A41A7A5EDA}"/>
              </a:ext>
            </a:extLst>
          </p:cNvPr>
          <p:cNvPicPr>
            <a:picLocks noChangeAspect="1"/>
          </p:cNvPicPr>
          <p:nvPr/>
        </p:nvPicPr>
        <p:blipFill>
          <a:blip r:embed="rId3"/>
          <a:stretch>
            <a:fillRect/>
          </a:stretch>
        </p:blipFill>
        <p:spPr>
          <a:xfrm>
            <a:off x="1268959" y="1760446"/>
            <a:ext cx="6392167" cy="1090909"/>
          </a:xfrm>
          <a:prstGeom prst="rect">
            <a:avLst/>
          </a:prstGeom>
          <a:effectLst>
            <a:glow rad="139700">
              <a:schemeClr val="accent2">
                <a:satMod val="175000"/>
                <a:alpha val="40000"/>
              </a:schemeClr>
            </a:glow>
          </a:effectLst>
        </p:spPr>
      </p:pic>
      <p:sp>
        <p:nvSpPr>
          <p:cNvPr id="11" name="TextBox 10">
            <a:extLst>
              <a:ext uri="{FF2B5EF4-FFF2-40B4-BE49-F238E27FC236}">
                <a16:creationId xmlns:a16="http://schemas.microsoft.com/office/drawing/2014/main" id="{311ACB01-2A99-7CBB-4E05-24760BA04801}"/>
              </a:ext>
            </a:extLst>
          </p:cNvPr>
          <p:cNvSpPr txBox="1"/>
          <p:nvPr/>
        </p:nvSpPr>
        <p:spPr>
          <a:xfrm>
            <a:off x="1268959" y="3661895"/>
            <a:ext cx="8838601" cy="400110"/>
          </a:xfrm>
          <a:prstGeom prst="rect">
            <a:avLst/>
          </a:prstGeom>
          <a:noFill/>
        </p:spPr>
        <p:txBody>
          <a:bodyPr wrap="square">
            <a:spAutoFit/>
          </a:bodyPr>
          <a:lstStyle/>
          <a:p>
            <a:r>
              <a:rPr lang="en-US" sz="2000" b="1" i="0" u="none" strike="noStrike" baseline="0" dirty="0"/>
              <a:t>Which employees have the highest number of qualifications? </a:t>
            </a:r>
          </a:p>
        </p:txBody>
      </p:sp>
      <p:pic>
        <p:nvPicPr>
          <p:cNvPr id="13" name="Picture 12">
            <a:extLst>
              <a:ext uri="{FF2B5EF4-FFF2-40B4-BE49-F238E27FC236}">
                <a16:creationId xmlns:a16="http://schemas.microsoft.com/office/drawing/2014/main" id="{13A555CE-FDF0-35DF-F2D8-2EAA076B1198}"/>
              </a:ext>
            </a:extLst>
          </p:cNvPr>
          <p:cNvPicPr>
            <a:picLocks noChangeAspect="1"/>
          </p:cNvPicPr>
          <p:nvPr/>
        </p:nvPicPr>
        <p:blipFill>
          <a:blip r:embed="rId4"/>
          <a:stretch>
            <a:fillRect/>
          </a:stretch>
        </p:blipFill>
        <p:spPr>
          <a:xfrm>
            <a:off x="8198229" y="4293465"/>
            <a:ext cx="2735242" cy="1454916"/>
          </a:xfrm>
          <a:prstGeom prst="rect">
            <a:avLst/>
          </a:prstGeom>
          <a:effectLst>
            <a:glow rad="139700">
              <a:schemeClr val="accent5">
                <a:satMod val="175000"/>
                <a:alpha val="40000"/>
              </a:schemeClr>
            </a:glow>
          </a:effectLst>
        </p:spPr>
      </p:pic>
      <p:pic>
        <p:nvPicPr>
          <p:cNvPr id="15" name="Picture 14">
            <a:extLst>
              <a:ext uri="{FF2B5EF4-FFF2-40B4-BE49-F238E27FC236}">
                <a16:creationId xmlns:a16="http://schemas.microsoft.com/office/drawing/2014/main" id="{997EFA20-6778-52BD-226A-0105DBCCB377}"/>
              </a:ext>
            </a:extLst>
          </p:cNvPr>
          <p:cNvPicPr>
            <a:picLocks noChangeAspect="1"/>
          </p:cNvPicPr>
          <p:nvPr/>
        </p:nvPicPr>
        <p:blipFill>
          <a:blip r:embed="rId5"/>
          <a:stretch>
            <a:fillRect/>
          </a:stretch>
        </p:blipFill>
        <p:spPr>
          <a:xfrm>
            <a:off x="1348893" y="4293465"/>
            <a:ext cx="6312233" cy="1577838"/>
          </a:xfrm>
          <a:prstGeom prst="rect">
            <a:avLst/>
          </a:prstGeom>
          <a:effectLst>
            <a:glow rad="139700">
              <a:schemeClr val="accent2">
                <a:satMod val="175000"/>
                <a:alpha val="40000"/>
              </a:schemeClr>
            </a:glow>
          </a:effectLst>
        </p:spPr>
      </p:pic>
    </p:spTree>
    <p:extLst>
      <p:ext uri="{BB962C8B-B14F-4D97-AF65-F5344CB8AC3E}">
        <p14:creationId xmlns:p14="http://schemas.microsoft.com/office/powerpoint/2010/main" val="13435579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AA328DA-ADA4-B98D-ED9A-805155CF165F}"/>
              </a:ext>
            </a:extLst>
          </p:cNvPr>
          <p:cNvSpPr txBox="1"/>
          <p:nvPr/>
        </p:nvSpPr>
        <p:spPr>
          <a:xfrm>
            <a:off x="1101212" y="318493"/>
            <a:ext cx="6096000" cy="461665"/>
          </a:xfrm>
          <a:prstGeom prst="rect">
            <a:avLst/>
          </a:prstGeom>
          <a:noFill/>
        </p:spPr>
        <p:txBody>
          <a:bodyPr wrap="square">
            <a:spAutoFit/>
          </a:bodyPr>
          <a:lstStyle/>
          <a:p>
            <a:r>
              <a:rPr lang="en-US" sz="2400" b="1" i="0" u="none" strike="noStrike" baseline="0" dirty="0">
                <a:solidFill>
                  <a:srgbClr val="FF0000"/>
                </a:solidFill>
                <a:latin typeface="Arial" panose="020B0604020202020204" pitchFamily="34" charset="0"/>
              </a:rPr>
              <a:t>4. LEAVE AND ABSENCE PATTERNS </a:t>
            </a:r>
            <a:endParaRPr lang="en-IN" sz="2400" dirty="0">
              <a:solidFill>
                <a:srgbClr val="FF0000"/>
              </a:solidFill>
            </a:endParaRPr>
          </a:p>
        </p:txBody>
      </p:sp>
      <p:sp>
        <p:nvSpPr>
          <p:cNvPr id="5" name="TextBox 4">
            <a:extLst>
              <a:ext uri="{FF2B5EF4-FFF2-40B4-BE49-F238E27FC236}">
                <a16:creationId xmlns:a16="http://schemas.microsoft.com/office/drawing/2014/main" id="{59826238-DFAB-D0FE-BFE7-2EB6804E3976}"/>
              </a:ext>
            </a:extLst>
          </p:cNvPr>
          <p:cNvSpPr txBox="1"/>
          <p:nvPr/>
        </p:nvSpPr>
        <p:spPr>
          <a:xfrm>
            <a:off x="1101212" y="1022177"/>
            <a:ext cx="8042787" cy="400110"/>
          </a:xfrm>
          <a:prstGeom prst="rect">
            <a:avLst/>
          </a:prstGeom>
          <a:noFill/>
        </p:spPr>
        <p:txBody>
          <a:bodyPr wrap="square">
            <a:spAutoFit/>
          </a:bodyPr>
          <a:lstStyle/>
          <a:p>
            <a:r>
              <a:rPr lang="en-US" sz="2000" b="1" i="0" u="none" strike="noStrike" baseline="0" dirty="0">
                <a:latin typeface="Arial" panose="020B0604020202020204" pitchFamily="34" charset="0"/>
              </a:rPr>
              <a:t>Which year had the most employees taking leaves? </a:t>
            </a:r>
          </a:p>
        </p:txBody>
      </p:sp>
      <p:pic>
        <p:nvPicPr>
          <p:cNvPr id="7" name="Picture 6">
            <a:extLst>
              <a:ext uri="{FF2B5EF4-FFF2-40B4-BE49-F238E27FC236}">
                <a16:creationId xmlns:a16="http://schemas.microsoft.com/office/drawing/2014/main" id="{2CC5B0C1-0F6D-F32D-BD4A-BCCB268DAE4B}"/>
              </a:ext>
            </a:extLst>
          </p:cNvPr>
          <p:cNvPicPr>
            <a:picLocks noChangeAspect="1"/>
          </p:cNvPicPr>
          <p:nvPr/>
        </p:nvPicPr>
        <p:blipFill>
          <a:blip r:embed="rId2"/>
          <a:stretch>
            <a:fillRect/>
          </a:stretch>
        </p:blipFill>
        <p:spPr>
          <a:xfrm>
            <a:off x="6579709" y="1690912"/>
            <a:ext cx="3181794" cy="1066949"/>
          </a:xfrm>
          <a:prstGeom prst="rect">
            <a:avLst/>
          </a:prstGeom>
          <a:effectLst>
            <a:glow rad="139700">
              <a:schemeClr val="accent4">
                <a:satMod val="175000"/>
                <a:alpha val="40000"/>
              </a:schemeClr>
            </a:glow>
          </a:effectLst>
        </p:spPr>
      </p:pic>
      <p:pic>
        <p:nvPicPr>
          <p:cNvPr id="9" name="Picture 8">
            <a:extLst>
              <a:ext uri="{FF2B5EF4-FFF2-40B4-BE49-F238E27FC236}">
                <a16:creationId xmlns:a16="http://schemas.microsoft.com/office/drawing/2014/main" id="{0A0D565B-BE29-96C9-5CE9-923DA30531B0}"/>
              </a:ext>
            </a:extLst>
          </p:cNvPr>
          <p:cNvPicPr>
            <a:picLocks noChangeAspect="1"/>
          </p:cNvPicPr>
          <p:nvPr/>
        </p:nvPicPr>
        <p:blipFill>
          <a:blip r:embed="rId3"/>
          <a:stretch>
            <a:fillRect/>
          </a:stretch>
        </p:blipFill>
        <p:spPr>
          <a:xfrm>
            <a:off x="1101212" y="1690912"/>
            <a:ext cx="4778478" cy="1143160"/>
          </a:xfrm>
          <a:prstGeom prst="rect">
            <a:avLst/>
          </a:prstGeom>
          <a:effectLst>
            <a:glow rad="139700">
              <a:schemeClr val="accent2">
                <a:satMod val="175000"/>
                <a:alpha val="40000"/>
              </a:schemeClr>
            </a:glow>
          </a:effectLst>
        </p:spPr>
      </p:pic>
      <p:sp>
        <p:nvSpPr>
          <p:cNvPr id="11" name="TextBox 10">
            <a:extLst>
              <a:ext uri="{FF2B5EF4-FFF2-40B4-BE49-F238E27FC236}">
                <a16:creationId xmlns:a16="http://schemas.microsoft.com/office/drawing/2014/main" id="{66270128-F039-77C3-8E2A-CAD5FF427A45}"/>
              </a:ext>
            </a:extLst>
          </p:cNvPr>
          <p:cNvSpPr txBox="1"/>
          <p:nvPr/>
        </p:nvSpPr>
        <p:spPr>
          <a:xfrm>
            <a:off x="929148" y="3179775"/>
            <a:ext cx="10333704" cy="400110"/>
          </a:xfrm>
          <a:prstGeom prst="rect">
            <a:avLst/>
          </a:prstGeom>
          <a:noFill/>
        </p:spPr>
        <p:txBody>
          <a:bodyPr wrap="square">
            <a:spAutoFit/>
          </a:bodyPr>
          <a:lstStyle/>
          <a:p>
            <a:r>
              <a:rPr lang="en-US" sz="2000" b="1" i="0" u="none" strike="noStrike" baseline="0" dirty="0">
                <a:latin typeface="Arial" panose="020B0604020202020204" pitchFamily="34" charset="0"/>
              </a:rPr>
              <a:t>What is the average number of leave days taken by its employees per department? </a:t>
            </a:r>
            <a:endParaRPr lang="en-IN" sz="2000" dirty="0"/>
          </a:p>
        </p:txBody>
      </p:sp>
      <p:pic>
        <p:nvPicPr>
          <p:cNvPr id="13" name="Picture 12">
            <a:extLst>
              <a:ext uri="{FF2B5EF4-FFF2-40B4-BE49-F238E27FC236}">
                <a16:creationId xmlns:a16="http://schemas.microsoft.com/office/drawing/2014/main" id="{8C536AAB-DCC3-57D8-BA45-0CD2DBCE9C65}"/>
              </a:ext>
            </a:extLst>
          </p:cNvPr>
          <p:cNvPicPr>
            <a:picLocks noChangeAspect="1"/>
          </p:cNvPicPr>
          <p:nvPr/>
        </p:nvPicPr>
        <p:blipFill>
          <a:blip r:embed="rId4"/>
          <a:stretch>
            <a:fillRect/>
          </a:stretch>
        </p:blipFill>
        <p:spPr>
          <a:xfrm>
            <a:off x="8427817" y="3829110"/>
            <a:ext cx="2667372" cy="2343477"/>
          </a:xfrm>
          <a:prstGeom prst="rect">
            <a:avLst/>
          </a:prstGeom>
          <a:effectLst>
            <a:glow rad="139700">
              <a:schemeClr val="accent4">
                <a:satMod val="175000"/>
                <a:alpha val="40000"/>
              </a:schemeClr>
            </a:glow>
          </a:effectLst>
        </p:spPr>
      </p:pic>
      <p:pic>
        <p:nvPicPr>
          <p:cNvPr id="15" name="Picture 14">
            <a:extLst>
              <a:ext uri="{FF2B5EF4-FFF2-40B4-BE49-F238E27FC236}">
                <a16:creationId xmlns:a16="http://schemas.microsoft.com/office/drawing/2014/main" id="{FD0CF53B-2118-406C-DC80-BBA543EA9D46}"/>
              </a:ext>
            </a:extLst>
          </p:cNvPr>
          <p:cNvPicPr>
            <a:picLocks noChangeAspect="1"/>
          </p:cNvPicPr>
          <p:nvPr/>
        </p:nvPicPr>
        <p:blipFill>
          <a:blip r:embed="rId5"/>
          <a:stretch>
            <a:fillRect/>
          </a:stretch>
        </p:blipFill>
        <p:spPr>
          <a:xfrm>
            <a:off x="1101212" y="3871511"/>
            <a:ext cx="6868484" cy="1105054"/>
          </a:xfrm>
          <a:prstGeom prst="rect">
            <a:avLst/>
          </a:prstGeom>
          <a:effectLst>
            <a:glow rad="139700">
              <a:schemeClr val="accent2">
                <a:satMod val="175000"/>
                <a:alpha val="40000"/>
              </a:schemeClr>
            </a:glow>
          </a:effectLst>
        </p:spPr>
      </p:pic>
    </p:spTree>
    <p:extLst>
      <p:ext uri="{BB962C8B-B14F-4D97-AF65-F5344CB8AC3E}">
        <p14:creationId xmlns:p14="http://schemas.microsoft.com/office/powerpoint/2010/main" val="11506734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BF29950-BDCA-904C-BA88-6F840290FE16}"/>
              </a:ext>
            </a:extLst>
          </p:cNvPr>
          <p:cNvSpPr txBox="1"/>
          <p:nvPr/>
        </p:nvSpPr>
        <p:spPr>
          <a:xfrm>
            <a:off x="1049671" y="888332"/>
            <a:ext cx="6096000" cy="400110"/>
          </a:xfrm>
          <a:prstGeom prst="rect">
            <a:avLst/>
          </a:prstGeom>
          <a:noFill/>
        </p:spPr>
        <p:txBody>
          <a:bodyPr wrap="square">
            <a:spAutoFit/>
          </a:bodyPr>
          <a:lstStyle/>
          <a:p>
            <a:r>
              <a:rPr lang="en-US" sz="2000" b="1" i="0" u="none" strike="noStrike" baseline="0" dirty="0">
                <a:latin typeface="Arial" panose="020B0604020202020204" pitchFamily="34" charset="0"/>
              </a:rPr>
              <a:t>Which employees have taken the most leaves? </a:t>
            </a:r>
          </a:p>
        </p:txBody>
      </p:sp>
      <p:pic>
        <p:nvPicPr>
          <p:cNvPr id="5" name="Picture 4">
            <a:extLst>
              <a:ext uri="{FF2B5EF4-FFF2-40B4-BE49-F238E27FC236}">
                <a16:creationId xmlns:a16="http://schemas.microsoft.com/office/drawing/2014/main" id="{78F0BF13-3C1F-7D12-38BF-6E15060B97E5}"/>
              </a:ext>
            </a:extLst>
          </p:cNvPr>
          <p:cNvPicPr>
            <a:picLocks noChangeAspect="1"/>
          </p:cNvPicPr>
          <p:nvPr/>
        </p:nvPicPr>
        <p:blipFill>
          <a:blip r:embed="rId2"/>
          <a:stretch>
            <a:fillRect/>
          </a:stretch>
        </p:blipFill>
        <p:spPr>
          <a:xfrm>
            <a:off x="7982574" y="1288442"/>
            <a:ext cx="2067213" cy="3172268"/>
          </a:xfrm>
          <a:prstGeom prst="rect">
            <a:avLst/>
          </a:prstGeom>
          <a:effectLst>
            <a:glow rad="139700">
              <a:schemeClr val="accent5">
                <a:satMod val="175000"/>
                <a:alpha val="40000"/>
              </a:schemeClr>
            </a:glow>
          </a:effectLst>
        </p:spPr>
      </p:pic>
      <p:pic>
        <p:nvPicPr>
          <p:cNvPr id="7" name="Picture 6">
            <a:extLst>
              <a:ext uri="{FF2B5EF4-FFF2-40B4-BE49-F238E27FC236}">
                <a16:creationId xmlns:a16="http://schemas.microsoft.com/office/drawing/2014/main" id="{B743D0F3-12E0-2B69-A8FF-D3C2E51AEF90}"/>
              </a:ext>
            </a:extLst>
          </p:cNvPr>
          <p:cNvPicPr>
            <a:picLocks noChangeAspect="1"/>
          </p:cNvPicPr>
          <p:nvPr/>
        </p:nvPicPr>
        <p:blipFill>
          <a:blip r:embed="rId3"/>
          <a:stretch>
            <a:fillRect/>
          </a:stretch>
        </p:blipFill>
        <p:spPr>
          <a:xfrm>
            <a:off x="1049671" y="2193529"/>
            <a:ext cx="6049219" cy="1105054"/>
          </a:xfrm>
          <a:prstGeom prst="rect">
            <a:avLst/>
          </a:prstGeom>
          <a:effectLst>
            <a:glow rad="139700">
              <a:schemeClr val="accent2">
                <a:satMod val="175000"/>
                <a:alpha val="40000"/>
              </a:schemeClr>
            </a:glow>
          </a:effectLst>
        </p:spPr>
      </p:pic>
    </p:spTree>
    <p:extLst>
      <p:ext uri="{BB962C8B-B14F-4D97-AF65-F5344CB8AC3E}">
        <p14:creationId xmlns:p14="http://schemas.microsoft.com/office/powerpoint/2010/main" val="10271491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A59CED-86E1-6462-003C-94873B82110E}"/>
              </a:ext>
            </a:extLst>
          </p:cNvPr>
          <p:cNvSpPr txBox="1"/>
          <p:nvPr/>
        </p:nvSpPr>
        <p:spPr>
          <a:xfrm>
            <a:off x="1130709" y="308228"/>
            <a:ext cx="8731045" cy="400110"/>
          </a:xfrm>
          <a:prstGeom prst="rect">
            <a:avLst/>
          </a:prstGeom>
          <a:noFill/>
        </p:spPr>
        <p:txBody>
          <a:bodyPr wrap="square">
            <a:spAutoFit/>
          </a:bodyPr>
          <a:lstStyle/>
          <a:p>
            <a:r>
              <a:rPr lang="en-US" sz="2000" b="1" i="0" u="none" strike="noStrike" baseline="0" dirty="0">
                <a:latin typeface="Arial" panose="020B0604020202020204" pitchFamily="34" charset="0"/>
              </a:rPr>
              <a:t>What is the total number of leave days taken company-wide? </a:t>
            </a:r>
          </a:p>
        </p:txBody>
      </p:sp>
      <p:pic>
        <p:nvPicPr>
          <p:cNvPr id="5" name="Picture 4">
            <a:extLst>
              <a:ext uri="{FF2B5EF4-FFF2-40B4-BE49-F238E27FC236}">
                <a16:creationId xmlns:a16="http://schemas.microsoft.com/office/drawing/2014/main" id="{DFE21BBF-8329-B808-B2A1-AAFEFBDFA029}"/>
              </a:ext>
            </a:extLst>
          </p:cNvPr>
          <p:cNvPicPr>
            <a:picLocks noChangeAspect="1"/>
          </p:cNvPicPr>
          <p:nvPr/>
        </p:nvPicPr>
        <p:blipFill>
          <a:blip r:embed="rId2"/>
          <a:stretch>
            <a:fillRect/>
          </a:stretch>
        </p:blipFill>
        <p:spPr>
          <a:xfrm>
            <a:off x="8478775" y="682483"/>
            <a:ext cx="2353003" cy="2438740"/>
          </a:xfrm>
          <a:prstGeom prst="rect">
            <a:avLst/>
          </a:prstGeom>
          <a:effectLst>
            <a:glow rad="139700">
              <a:schemeClr val="accent4">
                <a:satMod val="175000"/>
                <a:alpha val="40000"/>
              </a:schemeClr>
            </a:glow>
          </a:effectLst>
        </p:spPr>
      </p:pic>
      <p:pic>
        <p:nvPicPr>
          <p:cNvPr id="7" name="Picture 6">
            <a:extLst>
              <a:ext uri="{FF2B5EF4-FFF2-40B4-BE49-F238E27FC236}">
                <a16:creationId xmlns:a16="http://schemas.microsoft.com/office/drawing/2014/main" id="{73CA2F7F-ECCC-4F06-7A41-6359EA49EA40}"/>
              </a:ext>
            </a:extLst>
          </p:cNvPr>
          <p:cNvPicPr>
            <a:picLocks noChangeAspect="1"/>
          </p:cNvPicPr>
          <p:nvPr/>
        </p:nvPicPr>
        <p:blipFill>
          <a:blip r:embed="rId3"/>
          <a:stretch>
            <a:fillRect/>
          </a:stretch>
        </p:blipFill>
        <p:spPr>
          <a:xfrm>
            <a:off x="1130709" y="935392"/>
            <a:ext cx="6325483" cy="1609950"/>
          </a:xfrm>
          <a:prstGeom prst="rect">
            <a:avLst/>
          </a:prstGeom>
          <a:effectLst>
            <a:glow rad="139700">
              <a:schemeClr val="accent2">
                <a:satMod val="175000"/>
                <a:alpha val="40000"/>
              </a:schemeClr>
            </a:glow>
          </a:effectLst>
        </p:spPr>
      </p:pic>
      <p:sp>
        <p:nvSpPr>
          <p:cNvPr id="9" name="TextBox 8">
            <a:extLst>
              <a:ext uri="{FF2B5EF4-FFF2-40B4-BE49-F238E27FC236}">
                <a16:creationId xmlns:a16="http://schemas.microsoft.com/office/drawing/2014/main" id="{AA16EABD-F518-1DC0-0CB6-ECC1C12CF626}"/>
              </a:ext>
            </a:extLst>
          </p:cNvPr>
          <p:cNvSpPr txBox="1"/>
          <p:nvPr/>
        </p:nvSpPr>
        <p:spPr>
          <a:xfrm>
            <a:off x="1130709" y="3121223"/>
            <a:ext cx="6823588" cy="400110"/>
          </a:xfrm>
          <a:prstGeom prst="rect">
            <a:avLst/>
          </a:prstGeom>
          <a:noFill/>
        </p:spPr>
        <p:txBody>
          <a:bodyPr wrap="square">
            <a:spAutoFit/>
          </a:bodyPr>
          <a:lstStyle/>
          <a:p>
            <a:r>
              <a:rPr lang="en-US" sz="2000" b="1" i="0" u="none" strike="noStrike" baseline="0" dirty="0">
                <a:latin typeface="Arial" panose="020B0604020202020204" pitchFamily="34" charset="0"/>
              </a:rPr>
              <a:t>How do leave days correlate with payroll amounts? </a:t>
            </a:r>
            <a:endParaRPr lang="en-IN" sz="2000" dirty="0"/>
          </a:p>
        </p:txBody>
      </p:sp>
      <p:pic>
        <p:nvPicPr>
          <p:cNvPr id="11" name="Picture 10">
            <a:extLst>
              <a:ext uri="{FF2B5EF4-FFF2-40B4-BE49-F238E27FC236}">
                <a16:creationId xmlns:a16="http://schemas.microsoft.com/office/drawing/2014/main" id="{280F84C6-C9E0-4A7E-2C2B-30AFED346149}"/>
              </a:ext>
            </a:extLst>
          </p:cNvPr>
          <p:cNvPicPr>
            <a:picLocks noChangeAspect="1"/>
          </p:cNvPicPr>
          <p:nvPr/>
        </p:nvPicPr>
        <p:blipFill>
          <a:blip r:embed="rId4"/>
          <a:stretch>
            <a:fillRect/>
          </a:stretch>
        </p:blipFill>
        <p:spPr>
          <a:xfrm>
            <a:off x="7561801" y="3495478"/>
            <a:ext cx="4029637" cy="2629267"/>
          </a:xfrm>
          <a:prstGeom prst="rect">
            <a:avLst/>
          </a:prstGeom>
          <a:effectLst>
            <a:glow rad="139700">
              <a:schemeClr val="accent4">
                <a:satMod val="175000"/>
                <a:alpha val="40000"/>
              </a:schemeClr>
            </a:glow>
          </a:effectLst>
        </p:spPr>
      </p:pic>
      <p:pic>
        <p:nvPicPr>
          <p:cNvPr id="13" name="Picture 12">
            <a:extLst>
              <a:ext uri="{FF2B5EF4-FFF2-40B4-BE49-F238E27FC236}">
                <a16:creationId xmlns:a16="http://schemas.microsoft.com/office/drawing/2014/main" id="{7C9DC32D-0613-FA17-9E94-52569548E146}"/>
              </a:ext>
            </a:extLst>
          </p:cNvPr>
          <p:cNvPicPr>
            <a:picLocks noChangeAspect="1"/>
          </p:cNvPicPr>
          <p:nvPr/>
        </p:nvPicPr>
        <p:blipFill>
          <a:blip r:embed="rId5"/>
          <a:stretch>
            <a:fillRect/>
          </a:stretch>
        </p:blipFill>
        <p:spPr>
          <a:xfrm>
            <a:off x="1130709" y="3761187"/>
            <a:ext cx="5909188" cy="1152686"/>
          </a:xfrm>
          <a:prstGeom prst="rect">
            <a:avLst/>
          </a:prstGeom>
          <a:effectLst>
            <a:glow rad="139700">
              <a:schemeClr val="accent2">
                <a:satMod val="175000"/>
                <a:alpha val="40000"/>
              </a:schemeClr>
            </a:glow>
          </a:effectLst>
        </p:spPr>
      </p:pic>
    </p:spTree>
    <p:extLst>
      <p:ext uri="{BB962C8B-B14F-4D97-AF65-F5344CB8AC3E}">
        <p14:creationId xmlns:p14="http://schemas.microsoft.com/office/powerpoint/2010/main" val="17855275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DF1853A-EA47-453E-A984-1ECE96144971}"/>
              </a:ext>
            </a:extLst>
          </p:cNvPr>
          <p:cNvSpPr txBox="1"/>
          <p:nvPr/>
        </p:nvSpPr>
        <p:spPr>
          <a:xfrm>
            <a:off x="934064" y="269332"/>
            <a:ext cx="7590503" cy="461665"/>
          </a:xfrm>
          <a:prstGeom prst="rect">
            <a:avLst/>
          </a:prstGeom>
          <a:noFill/>
        </p:spPr>
        <p:txBody>
          <a:bodyPr wrap="square">
            <a:spAutoFit/>
          </a:bodyPr>
          <a:lstStyle/>
          <a:p>
            <a:r>
              <a:rPr lang="en-US" sz="2400" b="1" i="0" u="none" strike="noStrike" baseline="0" dirty="0">
                <a:solidFill>
                  <a:srgbClr val="FF0000"/>
                </a:solidFill>
                <a:latin typeface="Arial" panose="020B0604020202020204" pitchFamily="34" charset="0"/>
              </a:rPr>
              <a:t>5. PAYROLL AND COMPENSATION ANALYSIS </a:t>
            </a:r>
            <a:endParaRPr lang="en-IN" sz="2400" dirty="0">
              <a:solidFill>
                <a:srgbClr val="FF0000"/>
              </a:solidFill>
            </a:endParaRPr>
          </a:p>
        </p:txBody>
      </p:sp>
      <p:sp>
        <p:nvSpPr>
          <p:cNvPr id="9" name="TextBox 8">
            <a:extLst>
              <a:ext uri="{FF2B5EF4-FFF2-40B4-BE49-F238E27FC236}">
                <a16:creationId xmlns:a16="http://schemas.microsoft.com/office/drawing/2014/main" id="{D9AC9E39-08F9-5D56-9B3B-1B3C86EBB705}"/>
              </a:ext>
            </a:extLst>
          </p:cNvPr>
          <p:cNvSpPr txBox="1"/>
          <p:nvPr/>
        </p:nvSpPr>
        <p:spPr>
          <a:xfrm>
            <a:off x="1042219" y="1073258"/>
            <a:ext cx="7148052" cy="400110"/>
          </a:xfrm>
          <a:prstGeom prst="rect">
            <a:avLst/>
          </a:prstGeom>
          <a:noFill/>
        </p:spPr>
        <p:txBody>
          <a:bodyPr wrap="square">
            <a:spAutoFit/>
          </a:bodyPr>
          <a:lstStyle/>
          <a:p>
            <a:r>
              <a:rPr lang="en-US" sz="2000" b="1" i="0" u="none" strike="noStrike" baseline="0" dirty="0">
                <a:latin typeface="Arial" panose="020B0604020202020204" pitchFamily="34" charset="0"/>
              </a:rPr>
              <a:t>What is the total monthly payroll processed? </a:t>
            </a:r>
          </a:p>
        </p:txBody>
      </p:sp>
      <p:pic>
        <p:nvPicPr>
          <p:cNvPr id="11" name="Picture 10">
            <a:extLst>
              <a:ext uri="{FF2B5EF4-FFF2-40B4-BE49-F238E27FC236}">
                <a16:creationId xmlns:a16="http://schemas.microsoft.com/office/drawing/2014/main" id="{E29ADC14-26D6-DAC1-1998-7CD08D473442}"/>
              </a:ext>
            </a:extLst>
          </p:cNvPr>
          <p:cNvPicPr>
            <a:picLocks noChangeAspect="1"/>
          </p:cNvPicPr>
          <p:nvPr/>
        </p:nvPicPr>
        <p:blipFill>
          <a:blip r:embed="rId2"/>
          <a:stretch>
            <a:fillRect/>
          </a:stretch>
        </p:blipFill>
        <p:spPr>
          <a:xfrm>
            <a:off x="8294716" y="1473368"/>
            <a:ext cx="2524477" cy="857370"/>
          </a:xfrm>
          <a:prstGeom prst="rect">
            <a:avLst/>
          </a:prstGeom>
          <a:effectLst>
            <a:glow rad="101600">
              <a:schemeClr val="accent5">
                <a:satMod val="175000"/>
                <a:alpha val="40000"/>
              </a:schemeClr>
            </a:glow>
          </a:effectLst>
        </p:spPr>
      </p:pic>
      <p:pic>
        <p:nvPicPr>
          <p:cNvPr id="13" name="Picture 12">
            <a:extLst>
              <a:ext uri="{FF2B5EF4-FFF2-40B4-BE49-F238E27FC236}">
                <a16:creationId xmlns:a16="http://schemas.microsoft.com/office/drawing/2014/main" id="{FA675A77-E826-0F32-3E52-6819A7006986}"/>
              </a:ext>
            </a:extLst>
          </p:cNvPr>
          <p:cNvPicPr>
            <a:picLocks noChangeAspect="1"/>
          </p:cNvPicPr>
          <p:nvPr/>
        </p:nvPicPr>
        <p:blipFill>
          <a:blip r:embed="rId3"/>
          <a:stretch>
            <a:fillRect/>
          </a:stretch>
        </p:blipFill>
        <p:spPr>
          <a:xfrm>
            <a:off x="1042219" y="1618997"/>
            <a:ext cx="6068272" cy="1381318"/>
          </a:xfrm>
          <a:prstGeom prst="rect">
            <a:avLst/>
          </a:prstGeom>
          <a:effectLst>
            <a:glow rad="101600">
              <a:schemeClr val="accent2">
                <a:satMod val="175000"/>
                <a:alpha val="40000"/>
              </a:schemeClr>
            </a:glow>
          </a:effectLst>
        </p:spPr>
      </p:pic>
      <p:sp>
        <p:nvSpPr>
          <p:cNvPr id="15" name="TextBox 14">
            <a:extLst>
              <a:ext uri="{FF2B5EF4-FFF2-40B4-BE49-F238E27FC236}">
                <a16:creationId xmlns:a16="http://schemas.microsoft.com/office/drawing/2014/main" id="{8C2208E3-C223-BF39-5B0B-BE3F09B0208F}"/>
              </a:ext>
            </a:extLst>
          </p:cNvPr>
          <p:cNvSpPr txBox="1"/>
          <p:nvPr/>
        </p:nvSpPr>
        <p:spPr>
          <a:xfrm>
            <a:off x="1042219" y="3339802"/>
            <a:ext cx="7246375" cy="400110"/>
          </a:xfrm>
          <a:prstGeom prst="rect">
            <a:avLst/>
          </a:prstGeom>
          <a:noFill/>
        </p:spPr>
        <p:txBody>
          <a:bodyPr wrap="square">
            <a:spAutoFit/>
          </a:bodyPr>
          <a:lstStyle/>
          <a:p>
            <a:r>
              <a:rPr lang="en-US" sz="2000" b="1" i="0" u="none" strike="noStrike" baseline="0" dirty="0">
                <a:latin typeface="Arial" panose="020B0604020202020204" pitchFamily="34" charset="0"/>
              </a:rPr>
              <a:t>What is the average bonus given per department? </a:t>
            </a:r>
          </a:p>
        </p:txBody>
      </p:sp>
      <p:pic>
        <p:nvPicPr>
          <p:cNvPr id="17" name="Picture 16">
            <a:extLst>
              <a:ext uri="{FF2B5EF4-FFF2-40B4-BE49-F238E27FC236}">
                <a16:creationId xmlns:a16="http://schemas.microsoft.com/office/drawing/2014/main" id="{3E233D91-6116-C6A4-18F5-7417570D10EA}"/>
              </a:ext>
            </a:extLst>
          </p:cNvPr>
          <p:cNvPicPr>
            <a:picLocks noChangeAspect="1"/>
          </p:cNvPicPr>
          <p:nvPr/>
        </p:nvPicPr>
        <p:blipFill>
          <a:blip r:embed="rId4"/>
          <a:stretch>
            <a:fillRect/>
          </a:stretch>
        </p:blipFill>
        <p:spPr>
          <a:xfrm>
            <a:off x="8040913" y="3539857"/>
            <a:ext cx="2581635" cy="2410161"/>
          </a:xfrm>
          <a:prstGeom prst="rect">
            <a:avLst/>
          </a:prstGeom>
          <a:effectLst>
            <a:glow rad="101600">
              <a:schemeClr val="accent5">
                <a:satMod val="175000"/>
                <a:alpha val="40000"/>
              </a:schemeClr>
            </a:glow>
          </a:effectLst>
        </p:spPr>
      </p:pic>
      <p:pic>
        <p:nvPicPr>
          <p:cNvPr id="19" name="Picture 18">
            <a:extLst>
              <a:ext uri="{FF2B5EF4-FFF2-40B4-BE49-F238E27FC236}">
                <a16:creationId xmlns:a16="http://schemas.microsoft.com/office/drawing/2014/main" id="{B0310A67-49EB-5334-8198-03C093DA86E5}"/>
              </a:ext>
            </a:extLst>
          </p:cNvPr>
          <p:cNvPicPr>
            <a:picLocks noChangeAspect="1"/>
          </p:cNvPicPr>
          <p:nvPr/>
        </p:nvPicPr>
        <p:blipFill>
          <a:blip r:embed="rId5"/>
          <a:stretch>
            <a:fillRect/>
          </a:stretch>
        </p:blipFill>
        <p:spPr>
          <a:xfrm>
            <a:off x="1042219" y="4116198"/>
            <a:ext cx="6068272" cy="847843"/>
          </a:xfrm>
          <a:prstGeom prst="rect">
            <a:avLst/>
          </a:prstGeom>
          <a:effectLst>
            <a:glow rad="101600">
              <a:schemeClr val="accent2">
                <a:satMod val="175000"/>
                <a:alpha val="40000"/>
              </a:schemeClr>
            </a:glow>
          </a:effectLst>
        </p:spPr>
      </p:pic>
    </p:spTree>
    <p:extLst>
      <p:ext uri="{BB962C8B-B14F-4D97-AF65-F5344CB8AC3E}">
        <p14:creationId xmlns:p14="http://schemas.microsoft.com/office/powerpoint/2010/main" val="35363606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2C77431-7D79-D8A7-E945-EC9F802C533F}"/>
              </a:ext>
            </a:extLst>
          </p:cNvPr>
          <p:cNvSpPr txBox="1"/>
          <p:nvPr/>
        </p:nvSpPr>
        <p:spPr>
          <a:xfrm>
            <a:off x="570270" y="2896420"/>
            <a:ext cx="10255046" cy="400110"/>
          </a:xfrm>
          <a:prstGeom prst="rect">
            <a:avLst/>
          </a:prstGeom>
          <a:noFill/>
        </p:spPr>
        <p:txBody>
          <a:bodyPr wrap="square">
            <a:spAutoFit/>
          </a:bodyPr>
          <a:lstStyle/>
          <a:p>
            <a:r>
              <a:rPr lang="en-US" sz="2000" b="1" i="0" u="none" strike="noStrike" baseline="0" dirty="0">
                <a:latin typeface="Arial" panose="020B0604020202020204" pitchFamily="34" charset="0"/>
              </a:rPr>
              <a:t>What is the average value of </a:t>
            </a:r>
            <a:r>
              <a:rPr lang="en-US" sz="2000" b="1" i="0" u="none" strike="noStrike" baseline="0" dirty="0" err="1">
                <a:latin typeface="Roboto Mono" panose="00000009000000000000" pitchFamily="49" charset="0"/>
              </a:rPr>
              <a:t>total_amount</a:t>
            </a:r>
            <a:r>
              <a:rPr lang="en-US" sz="2000" b="1" i="0" u="none" strike="noStrike" baseline="0" dirty="0">
                <a:latin typeface="Roboto Mono" panose="00000009000000000000" pitchFamily="49" charset="0"/>
              </a:rPr>
              <a:t> </a:t>
            </a:r>
            <a:r>
              <a:rPr lang="en-US" sz="2000" b="1" i="0" u="none" strike="noStrike" baseline="0" dirty="0">
                <a:latin typeface="Arial" panose="020B0604020202020204" pitchFamily="34" charset="0"/>
              </a:rPr>
              <a:t>after considering leave deductions? </a:t>
            </a:r>
          </a:p>
        </p:txBody>
      </p:sp>
      <p:sp>
        <p:nvSpPr>
          <p:cNvPr id="9" name="TextBox 8">
            <a:extLst>
              <a:ext uri="{FF2B5EF4-FFF2-40B4-BE49-F238E27FC236}">
                <a16:creationId xmlns:a16="http://schemas.microsoft.com/office/drawing/2014/main" id="{E93921C7-7580-6251-30DA-5B57F24153D4}"/>
              </a:ext>
            </a:extLst>
          </p:cNvPr>
          <p:cNvSpPr txBox="1"/>
          <p:nvPr/>
        </p:nvSpPr>
        <p:spPr>
          <a:xfrm>
            <a:off x="570270" y="298397"/>
            <a:ext cx="7806814" cy="400110"/>
          </a:xfrm>
          <a:prstGeom prst="rect">
            <a:avLst/>
          </a:prstGeom>
          <a:noFill/>
        </p:spPr>
        <p:txBody>
          <a:bodyPr wrap="square">
            <a:spAutoFit/>
          </a:bodyPr>
          <a:lstStyle/>
          <a:p>
            <a:r>
              <a:rPr lang="en-US" sz="2000" b="1" i="0" u="none" strike="noStrike" baseline="0" dirty="0">
                <a:latin typeface="Arial" panose="020B0604020202020204" pitchFamily="34" charset="0"/>
              </a:rPr>
              <a:t>Which department receives the highest total bonuses? </a:t>
            </a:r>
          </a:p>
        </p:txBody>
      </p:sp>
      <p:pic>
        <p:nvPicPr>
          <p:cNvPr id="11" name="Picture 10">
            <a:extLst>
              <a:ext uri="{FF2B5EF4-FFF2-40B4-BE49-F238E27FC236}">
                <a16:creationId xmlns:a16="http://schemas.microsoft.com/office/drawing/2014/main" id="{AD5374A4-4642-D13D-C66D-2A3574DE3E76}"/>
              </a:ext>
            </a:extLst>
          </p:cNvPr>
          <p:cNvPicPr>
            <a:picLocks noChangeAspect="1"/>
          </p:cNvPicPr>
          <p:nvPr/>
        </p:nvPicPr>
        <p:blipFill>
          <a:blip r:embed="rId2"/>
          <a:stretch>
            <a:fillRect/>
          </a:stretch>
        </p:blipFill>
        <p:spPr>
          <a:xfrm>
            <a:off x="8031254" y="917464"/>
            <a:ext cx="2343477" cy="952633"/>
          </a:xfrm>
          <a:prstGeom prst="rect">
            <a:avLst/>
          </a:prstGeom>
          <a:effectLst>
            <a:glow rad="101600">
              <a:schemeClr val="accent5">
                <a:satMod val="175000"/>
                <a:alpha val="40000"/>
              </a:schemeClr>
            </a:glow>
          </a:effectLst>
        </p:spPr>
      </p:pic>
      <p:pic>
        <p:nvPicPr>
          <p:cNvPr id="13" name="Picture 12">
            <a:extLst>
              <a:ext uri="{FF2B5EF4-FFF2-40B4-BE49-F238E27FC236}">
                <a16:creationId xmlns:a16="http://schemas.microsoft.com/office/drawing/2014/main" id="{3B09E98A-1AED-D144-9CCA-5DFC670A7050}"/>
              </a:ext>
            </a:extLst>
          </p:cNvPr>
          <p:cNvPicPr>
            <a:picLocks noChangeAspect="1"/>
          </p:cNvPicPr>
          <p:nvPr/>
        </p:nvPicPr>
        <p:blipFill>
          <a:blip r:embed="rId3"/>
          <a:stretch>
            <a:fillRect/>
          </a:stretch>
        </p:blipFill>
        <p:spPr>
          <a:xfrm>
            <a:off x="877449" y="856044"/>
            <a:ext cx="6144482" cy="1419423"/>
          </a:xfrm>
          <a:prstGeom prst="rect">
            <a:avLst/>
          </a:prstGeom>
          <a:effectLst>
            <a:glow rad="101600">
              <a:schemeClr val="accent2">
                <a:satMod val="175000"/>
                <a:alpha val="40000"/>
              </a:schemeClr>
            </a:glow>
            <a:outerShdw blurRad="63500" sx="102000" sy="102000" algn="ctr" rotWithShape="0">
              <a:prstClr val="black">
                <a:alpha val="40000"/>
              </a:prstClr>
            </a:outerShdw>
          </a:effectLst>
        </p:spPr>
      </p:pic>
      <p:pic>
        <p:nvPicPr>
          <p:cNvPr id="15" name="Picture 14">
            <a:extLst>
              <a:ext uri="{FF2B5EF4-FFF2-40B4-BE49-F238E27FC236}">
                <a16:creationId xmlns:a16="http://schemas.microsoft.com/office/drawing/2014/main" id="{0A54F76C-4AA9-42D1-8D5A-6BAC3F36CBE8}"/>
              </a:ext>
            </a:extLst>
          </p:cNvPr>
          <p:cNvPicPr>
            <a:picLocks noChangeAspect="1"/>
          </p:cNvPicPr>
          <p:nvPr/>
        </p:nvPicPr>
        <p:blipFill>
          <a:blip r:embed="rId4"/>
          <a:stretch>
            <a:fillRect/>
          </a:stretch>
        </p:blipFill>
        <p:spPr>
          <a:xfrm>
            <a:off x="8031254" y="3761525"/>
            <a:ext cx="2343477" cy="943107"/>
          </a:xfrm>
          <a:prstGeom prst="rect">
            <a:avLst/>
          </a:prstGeom>
          <a:effectLst>
            <a:glow rad="101600">
              <a:schemeClr val="accent5">
                <a:satMod val="175000"/>
                <a:alpha val="40000"/>
              </a:schemeClr>
            </a:glow>
          </a:effectLst>
        </p:spPr>
      </p:pic>
      <p:pic>
        <p:nvPicPr>
          <p:cNvPr id="17" name="Picture 16">
            <a:extLst>
              <a:ext uri="{FF2B5EF4-FFF2-40B4-BE49-F238E27FC236}">
                <a16:creationId xmlns:a16="http://schemas.microsoft.com/office/drawing/2014/main" id="{237E7DCA-AC7A-5252-4A52-13408F5EAA3D}"/>
              </a:ext>
            </a:extLst>
          </p:cNvPr>
          <p:cNvPicPr>
            <a:picLocks noChangeAspect="1"/>
          </p:cNvPicPr>
          <p:nvPr/>
        </p:nvPicPr>
        <p:blipFill>
          <a:blip r:embed="rId5"/>
          <a:stretch>
            <a:fillRect/>
          </a:stretch>
        </p:blipFill>
        <p:spPr>
          <a:xfrm>
            <a:off x="779126" y="3879791"/>
            <a:ext cx="6447583" cy="824841"/>
          </a:xfrm>
          <a:prstGeom prst="rect">
            <a:avLst/>
          </a:prstGeom>
          <a:effectLst>
            <a:glow rad="101600">
              <a:schemeClr val="accent2">
                <a:satMod val="175000"/>
                <a:alpha val="40000"/>
              </a:schemeClr>
            </a:glow>
          </a:effectLst>
        </p:spPr>
      </p:pic>
    </p:spTree>
    <p:extLst>
      <p:ext uri="{BB962C8B-B14F-4D97-AF65-F5344CB8AC3E}">
        <p14:creationId xmlns:p14="http://schemas.microsoft.com/office/powerpoint/2010/main" val="40950681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97C63E4-40BD-8420-244E-2D9FFCF6F1BC}"/>
              </a:ext>
            </a:extLst>
          </p:cNvPr>
          <p:cNvSpPr txBox="1"/>
          <p:nvPr/>
        </p:nvSpPr>
        <p:spPr>
          <a:xfrm>
            <a:off x="491613" y="403122"/>
            <a:ext cx="10992464" cy="4739759"/>
          </a:xfrm>
          <a:prstGeom prst="rect">
            <a:avLst/>
          </a:prstGeom>
          <a:noFill/>
        </p:spPr>
        <p:txBody>
          <a:bodyPr wrap="square">
            <a:spAutoFit/>
          </a:bodyPr>
          <a:lstStyle/>
          <a:p>
            <a:r>
              <a:rPr lang="en-IN" sz="2800" b="1" i="0" u="none" strike="noStrike" baseline="0" dirty="0">
                <a:solidFill>
                  <a:srgbClr val="FF0000"/>
                </a:solidFill>
                <a:latin typeface="Calibri" panose="020F0502020204030204" pitchFamily="34" charset="0"/>
              </a:rPr>
              <a:t>Final Business Insights &amp; Recommendations</a:t>
            </a:r>
            <a:endParaRPr lang="en-IN" sz="2800" b="0" i="0" u="none" strike="noStrike" baseline="0" dirty="0">
              <a:solidFill>
                <a:srgbClr val="FF0000"/>
              </a:solidFill>
              <a:latin typeface="Calibri" panose="020F0502020204030204" pitchFamily="34" charset="0"/>
            </a:endParaRPr>
          </a:p>
          <a:p>
            <a:endParaRPr lang="en-IN" sz="2000" b="1" i="0" u="none" strike="noStrike" baseline="0" dirty="0">
              <a:solidFill>
                <a:srgbClr val="000000"/>
              </a:solidFill>
              <a:latin typeface="Calibri" panose="020F0502020204030204" pitchFamily="34" charset="0"/>
            </a:endParaRPr>
          </a:p>
          <a:p>
            <a:r>
              <a:rPr lang="en-IN" sz="2400" b="1" i="0" u="none" strike="noStrike" baseline="0" dirty="0">
                <a:solidFill>
                  <a:srgbClr val="000000"/>
                </a:solidFill>
                <a:latin typeface="Calibri" panose="020F0502020204030204" pitchFamily="34" charset="0"/>
              </a:rPr>
              <a:t>Key Insights:-</a:t>
            </a:r>
            <a:endParaRPr lang="en-IN" sz="2400" b="0" i="0" u="none" strike="noStrike" baseline="0" dirty="0">
              <a:solidFill>
                <a:srgbClr val="000000"/>
              </a:solidFill>
              <a:latin typeface="Calibri" panose="020F0502020204030204" pitchFamily="34" charset="0"/>
            </a:endParaRPr>
          </a:p>
          <a:p>
            <a:pPr marL="342900" indent="-342900">
              <a:buFont typeface="Arial" panose="020B0604020202020204" pitchFamily="34" charset="0"/>
              <a:buChar char="•"/>
            </a:pPr>
            <a:r>
              <a:rPr lang="en-US" sz="2400" b="0" i="0" u="none" strike="noStrike" baseline="0" dirty="0">
                <a:solidFill>
                  <a:srgbClr val="000000"/>
                </a:solidFill>
                <a:latin typeface="Calibri" panose="020F0502020204030204" pitchFamily="34" charset="0"/>
              </a:rPr>
              <a:t>Departments with more employees tend to have higher salary expenditure.</a:t>
            </a:r>
          </a:p>
          <a:p>
            <a:pPr marL="342900" indent="-342900">
              <a:buFont typeface="Arial" panose="020B0604020202020204" pitchFamily="34" charset="0"/>
              <a:buChar char="•"/>
            </a:pPr>
            <a:r>
              <a:rPr lang="en-US" sz="2400" b="0" i="0" u="none" strike="noStrike" baseline="0" dirty="0">
                <a:solidFill>
                  <a:srgbClr val="000000"/>
                </a:solidFill>
                <a:latin typeface="Calibri" panose="020F0502020204030204" pitchFamily="34" charset="0"/>
              </a:rPr>
              <a:t>Certain job roles offer higher salaries and bonuses, influencing employee retention.</a:t>
            </a:r>
          </a:p>
          <a:p>
            <a:pPr marL="342900" indent="-342900">
              <a:buFont typeface="Arial" panose="020B0604020202020204" pitchFamily="34" charset="0"/>
              <a:buChar char="•"/>
            </a:pPr>
            <a:r>
              <a:rPr lang="en-US" sz="2400" b="0" i="0" u="none" strike="noStrike" baseline="0" dirty="0">
                <a:solidFill>
                  <a:srgbClr val="000000"/>
                </a:solidFill>
                <a:latin typeface="Calibri" panose="020F0502020204030204" pitchFamily="34" charset="0"/>
              </a:rPr>
              <a:t>Leave patterns reveal workload stress or seasonal trends.</a:t>
            </a:r>
          </a:p>
          <a:p>
            <a:pPr marL="342900" indent="-342900">
              <a:buFont typeface="Arial" panose="020B0604020202020204" pitchFamily="34" charset="0"/>
              <a:buChar char="•"/>
            </a:pPr>
            <a:r>
              <a:rPr lang="en-US" sz="2400" b="0" i="0" u="none" strike="noStrike" baseline="0" dirty="0">
                <a:solidFill>
                  <a:srgbClr val="000000"/>
                </a:solidFill>
                <a:latin typeface="Calibri" panose="020F0502020204030204" pitchFamily="34" charset="0"/>
              </a:rPr>
              <a:t>Payroll variations reflect bonuses, leave deductions, and job hierarchy.</a:t>
            </a:r>
          </a:p>
          <a:p>
            <a:endParaRPr lang="en-IN" sz="1400" b="0" i="0" u="none" strike="noStrike" baseline="0" dirty="0">
              <a:solidFill>
                <a:srgbClr val="000000"/>
              </a:solidFill>
              <a:latin typeface="Calibri" panose="020F0502020204030204" pitchFamily="34" charset="0"/>
            </a:endParaRPr>
          </a:p>
          <a:p>
            <a:r>
              <a:rPr lang="en-IN" sz="2400" b="1" i="0" u="none" strike="noStrike" baseline="0" dirty="0">
                <a:solidFill>
                  <a:srgbClr val="000000"/>
                </a:solidFill>
                <a:latin typeface="Calibri" panose="020F0502020204030204" pitchFamily="34" charset="0"/>
              </a:rPr>
              <a:t>Recommendations:-</a:t>
            </a:r>
            <a:endParaRPr lang="en-IN" sz="2400" b="0" i="0" u="none" strike="noStrike" baseline="0" dirty="0">
              <a:solidFill>
                <a:srgbClr val="000000"/>
              </a:solidFill>
              <a:latin typeface="Calibri" panose="020F0502020204030204" pitchFamily="34" charset="0"/>
            </a:endParaRPr>
          </a:p>
          <a:p>
            <a:pPr marL="342900" indent="-342900">
              <a:buFont typeface="Arial" panose="020B0604020202020204" pitchFamily="34" charset="0"/>
              <a:buChar char="•"/>
            </a:pPr>
            <a:r>
              <a:rPr lang="en-US" sz="2400" b="0" i="0" u="none" strike="noStrike" baseline="0" dirty="0">
                <a:solidFill>
                  <a:srgbClr val="000000"/>
                </a:solidFill>
                <a:latin typeface="Calibri" panose="020F0502020204030204" pitchFamily="34" charset="0"/>
              </a:rPr>
              <a:t>Optimize resource allocation in departments with high salary expenditure.</a:t>
            </a:r>
          </a:p>
          <a:p>
            <a:pPr marL="342900" indent="-342900">
              <a:buFont typeface="Arial" panose="020B0604020202020204" pitchFamily="34" charset="0"/>
              <a:buChar char="•"/>
            </a:pPr>
            <a:r>
              <a:rPr lang="en-US" sz="2400" b="0" i="0" u="none" strike="noStrike" baseline="0" dirty="0">
                <a:solidFill>
                  <a:srgbClr val="000000"/>
                </a:solidFill>
                <a:latin typeface="Calibri" panose="020F0502020204030204" pitchFamily="34" charset="0"/>
              </a:rPr>
              <a:t>Offer training programs for roles requiring high qualifications.</a:t>
            </a:r>
          </a:p>
          <a:p>
            <a:pPr marL="342900" indent="-342900">
              <a:buFont typeface="Arial" panose="020B0604020202020204" pitchFamily="34" charset="0"/>
              <a:buChar char="•"/>
            </a:pPr>
            <a:r>
              <a:rPr lang="en-US" sz="2400" b="0" i="0" u="none" strike="noStrike" baseline="0" dirty="0">
                <a:solidFill>
                  <a:srgbClr val="000000"/>
                </a:solidFill>
                <a:latin typeface="Calibri" panose="020F0502020204030204" pitchFamily="34" charset="0"/>
              </a:rPr>
              <a:t>Implement better leave management practices to reduce productivity impact.</a:t>
            </a:r>
          </a:p>
          <a:p>
            <a:pPr marL="342900" indent="-342900">
              <a:buFont typeface="Arial" panose="020B0604020202020204" pitchFamily="34" charset="0"/>
              <a:buChar char="•"/>
            </a:pPr>
            <a:r>
              <a:rPr lang="en-US" sz="2400" b="0" i="0" u="none" strike="noStrike" baseline="0" dirty="0">
                <a:solidFill>
                  <a:srgbClr val="000000"/>
                </a:solidFill>
                <a:latin typeface="Calibri" panose="020F0502020204030204" pitchFamily="34" charset="0"/>
              </a:rPr>
              <a:t>Automate payroll to minimize manual errors and speed up processing.</a:t>
            </a:r>
          </a:p>
        </p:txBody>
      </p:sp>
    </p:spTree>
    <p:extLst>
      <p:ext uri="{BB962C8B-B14F-4D97-AF65-F5344CB8AC3E}">
        <p14:creationId xmlns:p14="http://schemas.microsoft.com/office/powerpoint/2010/main" val="25729931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4C9CA69-5BD2-B6B6-5FFC-1F503D48EBA1}"/>
              </a:ext>
            </a:extLst>
          </p:cNvPr>
          <p:cNvSpPr txBox="1"/>
          <p:nvPr/>
        </p:nvSpPr>
        <p:spPr>
          <a:xfrm>
            <a:off x="707922" y="727588"/>
            <a:ext cx="10402530" cy="5016758"/>
          </a:xfrm>
          <a:prstGeom prst="rect">
            <a:avLst/>
          </a:prstGeom>
          <a:noFill/>
        </p:spPr>
        <p:txBody>
          <a:bodyPr wrap="square">
            <a:spAutoFit/>
          </a:bodyPr>
          <a:lstStyle/>
          <a:p>
            <a:r>
              <a:rPr lang="en-US" sz="2800" b="1" i="0" u="none" strike="noStrike" baseline="0" dirty="0">
                <a:solidFill>
                  <a:srgbClr val="FF0000"/>
                </a:solidFill>
                <a:latin typeface="Calibri" panose="020F0502020204030204" pitchFamily="34" charset="0"/>
              </a:rPr>
              <a:t>Challenges Working on SQL Project</a:t>
            </a:r>
          </a:p>
          <a:p>
            <a:endParaRPr lang="en-US" sz="2800" b="0" i="0" u="none" strike="noStrike" baseline="0" dirty="0">
              <a:solidFill>
                <a:srgbClr val="FF0000"/>
              </a:solidFill>
              <a:latin typeface="Calibri" panose="020F0502020204030204" pitchFamily="34" charset="0"/>
            </a:endParaRPr>
          </a:p>
          <a:p>
            <a:pPr marL="342900" indent="-342900">
              <a:buFont typeface="Wingdings" panose="05000000000000000000" pitchFamily="2" charset="2"/>
              <a:buChar char="§"/>
            </a:pPr>
            <a:r>
              <a:rPr lang="en-IN" sz="2400" b="0" i="0" u="none" strike="noStrike" baseline="0" dirty="0">
                <a:solidFill>
                  <a:srgbClr val="000000"/>
                </a:solidFill>
                <a:latin typeface="Calibri" panose="020F0502020204030204" pitchFamily="34" charset="0"/>
              </a:rPr>
              <a:t>Designing the ER diagram and establishing correct foreign key connections was challenging initially.</a:t>
            </a:r>
          </a:p>
          <a:p>
            <a:pPr marL="342900" indent="-342900">
              <a:buFont typeface="Wingdings" panose="05000000000000000000" pitchFamily="2" charset="2"/>
              <a:buChar char="§"/>
            </a:pPr>
            <a:r>
              <a:rPr lang="en-IN" sz="2400" b="0" i="0" u="none" strike="noStrike" baseline="0" dirty="0">
                <a:solidFill>
                  <a:srgbClr val="000000"/>
                </a:solidFill>
                <a:latin typeface="Calibri" panose="020F0502020204030204" pitchFamily="34" charset="0"/>
              </a:rPr>
              <a:t>Writing multi-table JOIN queries required understanding relationships between tables.</a:t>
            </a:r>
          </a:p>
          <a:p>
            <a:pPr marL="342900" indent="-342900">
              <a:buFont typeface="Wingdings" panose="05000000000000000000" pitchFamily="2" charset="2"/>
              <a:buChar char="§"/>
            </a:pPr>
            <a:r>
              <a:rPr lang="en-IN" sz="2400" b="0" i="0" u="none" strike="noStrike" baseline="0" dirty="0">
                <a:solidFill>
                  <a:srgbClr val="000000"/>
                </a:solidFill>
                <a:latin typeface="Calibri" panose="020F0502020204030204" pitchFamily="34" charset="0"/>
              </a:rPr>
              <a:t>Ensuring data consistency during inserts, updates, and deletes needed careful planning.</a:t>
            </a:r>
          </a:p>
          <a:p>
            <a:pPr marL="342900" indent="-342900">
              <a:buFont typeface="Wingdings" panose="05000000000000000000" pitchFamily="2" charset="2"/>
              <a:buChar char="§"/>
            </a:pPr>
            <a:r>
              <a:rPr lang="en-IN" sz="2400" b="0" i="0" u="none" strike="noStrike" baseline="0" dirty="0">
                <a:solidFill>
                  <a:srgbClr val="000000"/>
                </a:solidFill>
                <a:latin typeface="Calibri" panose="020F0502020204030204" pitchFamily="34" charset="0"/>
              </a:rPr>
              <a:t>Handling date formats and generating time-based insights took additional effort.</a:t>
            </a:r>
          </a:p>
          <a:p>
            <a:pPr marL="342900" indent="-342900">
              <a:buFont typeface="Wingdings" panose="05000000000000000000" pitchFamily="2" charset="2"/>
              <a:buChar char="§"/>
            </a:pPr>
            <a:r>
              <a:rPr lang="en-IN" sz="2400" b="0" i="0" u="none" strike="noStrike" baseline="0" dirty="0">
                <a:solidFill>
                  <a:srgbClr val="000000"/>
                </a:solidFill>
                <a:latin typeface="Calibri" panose="020F0502020204030204" pitchFamily="34" charset="0"/>
              </a:rPr>
              <a:t>Overall, the project improved my SQL understanding, query optimization skills, and analytical thinking.</a:t>
            </a:r>
          </a:p>
          <a:p>
            <a:pPr marL="342900" indent="-342900">
              <a:buFont typeface="Wingdings" panose="05000000000000000000" pitchFamily="2" charset="2"/>
              <a:buChar char="§"/>
            </a:pPr>
            <a:endParaRPr lang="en-IN" sz="2400" b="0" i="0" u="none" strike="noStrike" baseline="0" dirty="0">
              <a:solidFill>
                <a:srgbClr val="000000"/>
              </a:solidFill>
              <a:latin typeface="Calibri" panose="020F0502020204030204" pitchFamily="34" charset="0"/>
            </a:endParaRPr>
          </a:p>
        </p:txBody>
      </p:sp>
    </p:spTree>
    <p:extLst>
      <p:ext uri="{BB962C8B-B14F-4D97-AF65-F5344CB8AC3E}">
        <p14:creationId xmlns:p14="http://schemas.microsoft.com/office/powerpoint/2010/main" val="39401195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E4289ED-446B-D6B0-9B6D-65C1C5E5E6F4}"/>
              </a:ext>
            </a:extLst>
          </p:cNvPr>
          <p:cNvSpPr txBox="1"/>
          <p:nvPr/>
        </p:nvSpPr>
        <p:spPr>
          <a:xfrm>
            <a:off x="983226" y="930258"/>
            <a:ext cx="9910916" cy="4156907"/>
          </a:xfrm>
          <a:prstGeom prst="rect">
            <a:avLst/>
          </a:prstGeom>
          <a:noFill/>
        </p:spPr>
        <p:txBody>
          <a:bodyPr wrap="square">
            <a:spAutoFit/>
          </a:bodyPr>
          <a:lstStyle/>
          <a:p>
            <a:r>
              <a:rPr lang="en-IN" sz="2800" b="1" i="0" u="none" strike="noStrike" baseline="0" dirty="0">
                <a:solidFill>
                  <a:srgbClr val="FF0000"/>
                </a:solidFill>
                <a:latin typeface="Calibri" panose="020F0502020204030204" pitchFamily="34" charset="0"/>
              </a:rPr>
              <a:t>Conclusion</a:t>
            </a:r>
            <a:endParaRPr lang="en-IN" sz="2800" b="0" i="0" u="none" strike="noStrike" baseline="0" dirty="0">
              <a:solidFill>
                <a:srgbClr val="FF0000"/>
              </a:solidFill>
              <a:latin typeface="Calibri" panose="020F0502020204030204" pitchFamily="34" charset="0"/>
            </a:endParaRPr>
          </a:p>
          <a:p>
            <a:pPr algn="just"/>
            <a:endParaRPr lang="en-IN" sz="2400" b="0" i="0" u="none" strike="noStrike" baseline="0" dirty="0">
              <a:solidFill>
                <a:srgbClr val="000000"/>
              </a:solidFill>
              <a:latin typeface="Calibri" panose="020F0502020204030204" pitchFamily="34" charset="0"/>
            </a:endParaRPr>
          </a:p>
          <a:p>
            <a:pPr algn="just">
              <a:lnSpc>
                <a:spcPct val="150000"/>
              </a:lnSpc>
            </a:pPr>
            <a:r>
              <a:rPr lang="en-IN" sz="2400" b="0" i="0" u="none" strike="noStrike" baseline="0" dirty="0">
                <a:solidFill>
                  <a:srgbClr val="000000"/>
                </a:solidFill>
                <a:latin typeface="Calibri" panose="020F0502020204030204" pitchFamily="34" charset="0"/>
              </a:rPr>
              <a:t>The Employee Management System successfully demonstrate show SQL can organize and analyse large employee datasets. Through ER modelling, structured tables, and complex queries, the system provides valuable insights for HR decision-making, salary planning, and performance tracking. The project highlights the importance of relational databases in efficient workforce management.</a:t>
            </a:r>
            <a:endParaRPr lang="en-IN" sz="2400" dirty="0"/>
          </a:p>
        </p:txBody>
      </p:sp>
    </p:spTree>
    <p:extLst>
      <p:ext uri="{BB962C8B-B14F-4D97-AF65-F5344CB8AC3E}">
        <p14:creationId xmlns:p14="http://schemas.microsoft.com/office/powerpoint/2010/main" val="6524386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AF30B-CF72-12E4-8989-98916D5A590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63EC5EB-B81F-F005-3A0E-479F228B8098}"/>
              </a:ext>
            </a:extLst>
          </p:cNvPr>
          <p:cNvPicPr>
            <a:picLocks noChangeAspect="1"/>
          </p:cNvPicPr>
          <p:nvPr/>
        </p:nvPicPr>
        <p:blipFill>
          <a:blip r:embed="rId2"/>
          <a:stretch>
            <a:fillRect/>
          </a:stretch>
        </p:blipFill>
        <p:spPr>
          <a:xfrm>
            <a:off x="1559017" y="383459"/>
            <a:ext cx="8597706" cy="5380591"/>
          </a:xfrm>
          <a:prstGeom prst="rect">
            <a:avLst/>
          </a:prstGeom>
        </p:spPr>
      </p:pic>
    </p:spTree>
    <p:extLst>
      <p:ext uri="{BB962C8B-B14F-4D97-AF65-F5344CB8AC3E}">
        <p14:creationId xmlns:p14="http://schemas.microsoft.com/office/powerpoint/2010/main" val="36797853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552</TotalTime>
  <Words>973</Words>
  <Application>Microsoft Office PowerPoint</Application>
  <PresentationFormat>Widescreen</PresentationFormat>
  <Paragraphs>115</Paragraphs>
  <Slides>28</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Wingdings</vt:lpstr>
      <vt:lpstr>Roboto Mono</vt:lpstr>
      <vt:lpstr>Lato Black</vt:lpstr>
      <vt:lpstr>Libre Baskerville</vt:lpstr>
      <vt:lpstr>Calibri</vt:lpstr>
      <vt:lpstr>Arial</vt:lpstr>
      <vt:lpstr>Office Theme</vt:lpstr>
      <vt:lpstr>PowerPoint Presentation</vt:lpstr>
      <vt:lpstr>PowerPoint Presentation</vt:lpstr>
      <vt:lpstr>Agenda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Robbinn hudd</cp:lastModifiedBy>
  <cp:revision>67</cp:revision>
  <dcterms:created xsi:type="dcterms:W3CDTF">2021-02-16T05:19:01Z</dcterms:created>
  <dcterms:modified xsi:type="dcterms:W3CDTF">2025-12-24T10:32:14Z</dcterms:modified>
</cp:coreProperties>
</file>